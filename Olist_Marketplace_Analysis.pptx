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Calibri"/>
              </a:defRPr>
            </a:pPr>
            <a:r>
              <a:rPr sz="1300" b="0" i="0" u="none" strike="noStrike">
                <a:solidFill>
                  <a:srgbClr val="1A1A1A"/>
                </a:solidFill>
                <a:latin typeface="Calibri"/>
              </a:rPr>
              <a:t>Average Review Score by Delivery Timing</a:t>
            </a:r>
          </a:p>
        </c:rich>
      </c:tx>
      <c:layout/>
      <c:overlay val="0"/>
    </c:title>
    <c:autoTitleDeleted val="0"/>
    <c:plotArea>
      <c:layout/>
      <c:barChart>
        <c:barDir val="col"/>
        <c:grouping val="clustered"/>
        <c:varyColors val="0"/>
        <c:ser>
          <c:idx val="0"/>
          <c:order val="0"/>
          <c:tx>
            <c:strRef>
              <c:f>Sheet1!$B$1</c:f>
              <c:strCache>
                <c:ptCount val="1"/>
                <c:pt idx="0">
                  <c:v>Average review score</c:v>
                </c:pt>
              </c:strCache>
            </c:strRef>
          </c:tx>
          <c:spPr>
            <a:solidFill>
              <a:srgbClr val="065A82"/>
            </a:solidFill>
            <a:effectLst/>
          </c:spPr>
          <c:invertIfNegative val="0"/>
          <c:dLbls>
            <c:numFmt formatCode="0.0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065A82"/>
              </a:solidFill>
              <a:effectLst/>
            </c:spPr>
          </c:dPt>
          <c:dPt>
            <c:idx val="2"/>
            <c:invertIfNegative val="0"/>
            <c:bubble3D val="0"/>
            <c:spPr>
              <a:solidFill>
                <a:srgbClr val="065A82"/>
              </a:solidFill>
              <a:effectLst/>
            </c:spPr>
          </c:dPt>
          <c:dPt>
            <c:idx val="3"/>
            <c:invertIfNegative val="0"/>
            <c:bubble3D val="0"/>
            <c:spPr>
              <a:solidFill>
                <a:srgbClr val="1C7293"/>
              </a:solidFill>
              <a:effectLst/>
            </c:spPr>
          </c:dPt>
          <c:dPt>
            <c:idx val="4"/>
            <c:invertIfNegative val="0"/>
            <c:bubble3D val="0"/>
            <c:spPr>
              <a:solidFill>
                <a:srgbClr val="B23A48"/>
              </a:solidFill>
              <a:effectLst/>
            </c:spPr>
          </c:dPt>
          <c:dPt>
            <c:idx val="5"/>
            <c:invertIfNegative val="0"/>
            <c:bubble3D val="0"/>
            <c:spPr>
              <a:solidFill>
                <a:srgbClr val="B23A48"/>
              </a:solidFill>
              <a:effectLst/>
            </c:spPr>
          </c:dPt>
          <c:cat>
            <c:multiLvlStrRef>
              <c:f>Sheet1!$A$2:$A$7</c:f>
              <c:multiLvlStrCache>
                <c:ptCount val="6"/>
                <c:lvl>
                  <c:pt idx="0">
                    <c:v>14+ days
early</c:v>
                  </c:pt>
                  <c:pt idx="1">
                    <c:v>8-14 days
early</c:v>
                  </c:pt>
                  <c:pt idx="2">
                    <c:v>1-7 days
early</c:v>
                  </c:pt>
                  <c:pt idx="3">
                    <c:v>On time</c:v>
                  </c:pt>
                  <c:pt idx="4">
                    <c:v>1-7 days
late</c:v>
                  </c:pt>
                  <c:pt idx="5">
                    <c:v>7+ days
late</c:v>
                  </c:pt>
                </c:lvl>
              </c:multiLvlStrCache>
            </c:multiLvlStrRef>
          </c:cat>
          <c:val>
            <c:numRef>
              <c:f>Sheet1!$B$2:$B$7</c:f>
              <c:numCache>
                <c:formatCode>General</c:formatCode>
                <c:ptCount val="6"/>
                <c:pt idx="0">
                  <c:v>4.31</c:v>
                </c:pt>
                <c:pt idx="1">
                  <c:v>4.3</c:v>
                </c:pt>
                <c:pt idx="2">
                  <c:v>4.19</c:v>
                </c:pt>
                <c:pt idx="3">
                  <c:v>3.16</c:v>
                </c:pt>
                <c:pt idx="4">
                  <c:v>1.74</c:v>
                </c:pt>
                <c:pt idx="5">
                  <c:v>1.71</c:v>
                </c:pt>
              </c:numCache>
            </c:numRef>
          </c:val>
        </c:ser>
        <c:dLbls>
          <c:numFmt formatCode="0.0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A6472"/>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3EAEF"/>
              </a:solidFill>
              <a:prstDash val="solid"/>
              <a:round/>
            </a:ln>
          </c:spPr>
        </c:majorGridlines>
        <c:title>
          <c:tx>
            <c:rich>
              <a:bodyPr/>
              <a:lstStyle/>
              <a:p>
                <a:pPr>
                  <a:defRPr sz="1000" b="0" i="0" u="none" strike="noStrike">
                    <a:solidFill>
                      <a:srgbClr val="5A6472"/>
                    </a:solidFill>
                    <a:latin typeface="Arial"/>
                  </a:defRPr>
                </a:pPr>
                <a:r>
                  <a:rPr sz="1000" b="0" i="0" u="none" strike="noStrike">
                    <a:solidFill>
                      <a:srgbClr val="5A6472"/>
                    </a:solidFill>
                    <a:latin typeface="Arial"/>
                  </a:rPr>
                  <a:t>Avg. review (1-5)</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(R$M)</c:v>
                </c:pt>
              </c:strCache>
            </c:strRef>
          </c:tx>
          <c:spPr>
            <a:solidFill>
              <a:srgbClr val="065A82"/>
            </a:solidFill>
            <a:effectLst/>
          </c:spPr>
          <c:invertIfNegative val="0"/>
          <c:dLbls>
            <c:numFmt formatCode="0.0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Sheet1!$A$2:$A$6</c:f>
              <c:multiLvlStrCache>
                <c:ptCount val="5"/>
                <c:lvl>
                  <c:pt idx="0">
                    <c:v>Health &amp;
Beauty</c:v>
                  </c:pt>
                  <c:pt idx="1">
                    <c:v>Watches &amp;
Gifts</c:v>
                  </c:pt>
                  <c:pt idx="2">
                    <c:v>Bed Bath
Table</c:v>
                  </c:pt>
                  <c:pt idx="3">
                    <c:v>Sports &amp;
Leisure</c:v>
                  </c:pt>
                  <c:pt idx="4">
                    <c:v>Computers &amp;
Accessories</c:v>
                  </c:pt>
                </c:lvl>
              </c:multiLvlStrCache>
            </c:multiLvlStrRef>
          </c:cat>
          <c:val>
            <c:numRef>
              <c:f>Sheet1!$B$2:$B$6</c:f>
              <c:numCache>
                <c:formatCode>General</c:formatCode>
                <c:ptCount val="5"/>
                <c:pt idx="0">
                  <c:v>1.26</c:v>
                </c:pt>
                <c:pt idx="1">
                  <c:v>1.21</c:v>
                </c:pt>
                <c:pt idx="2">
                  <c:v>1.04</c:v>
                </c:pt>
                <c:pt idx="3">
                  <c:v>0.99</c:v>
                </c:pt>
                <c:pt idx="4">
                  <c:v>0.91</c:v>
                </c:pt>
              </c:numCache>
            </c:numRef>
          </c:val>
        </c:ser>
        <c:dLbls>
          <c:numFmt formatCode="0.0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A6472"/>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A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Orders</c:v>
                </c:pt>
              </c:strCache>
            </c:strRef>
          </c:tx>
          <c:spPr>
            <a:solidFill>
              <a:srgbClr val="1C7293"/>
            </a:solidFill>
            <a:effectLst/>
          </c:spPr>
          <c:invertIfNegative val="0"/>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Sheet1!$A$2:$A$5</c:f>
              <c:multiLvlStrCache>
                <c:ptCount val="4"/>
                <c:lvl>
                  <c:pt idx="0">
                    <c:v>Credit Card</c:v>
                  </c:pt>
                  <c:pt idx="1">
                    <c:v>Boleto</c:v>
                  </c:pt>
                  <c:pt idx="2">
                    <c:v>Voucher</c:v>
                  </c:pt>
                  <c:pt idx="3">
                    <c:v>Debit Card</c:v>
                  </c:pt>
                </c:lvl>
              </c:multiLvlStrCache>
            </c:multiLvlStrRef>
          </c:cat>
          <c:val>
            <c:numRef>
              <c:f>Sheet1!$B$2:$B$5</c:f>
              <c:numCache>
                <c:formatCode>General</c:formatCode>
                <c:ptCount val="4"/>
                <c:pt idx="0">
                  <c:v>76505</c:v>
                </c:pt>
                <c:pt idx="1">
                  <c:v>19784</c:v>
                </c:pt>
                <c:pt idx="2">
                  <c:v>3866</c:v>
                </c:pt>
                <c:pt idx="3">
                  <c:v>1528</c:v>
                </c:pt>
              </c:numCache>
            </c:numRef>
          </c:val>
        </c:ser>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A6472"/>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A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365760"/>
          </a:xfrm>
          <a:prstGeom prst="rect">
            <a:avLst/>
          </a:prstGeom>
          <a:noFill/>
          <a:ln/>
        </p:spPr>
        <p:txBody>
          <a:bodyPr wrap="square" lIns="0" tIns="0" rIns="0" bIns="0" rtlCol="0" anchor="ctr"/>
          <a:lstStyle/>
          <a:p>
            <a:pPr indent="0" marL="0">
              <a:buNone/>
            </a:pPr>
            <a:r>
              <a:rPr lang="en-US" sz="1300" b="1" spc="300" kern="0" dirty="0">
                <a:solidFill>
                  <a:srgbClr val="9FB6D9"/>
                </a:solidFill>
                <a:latin typeface="Calibri" pitchFamily="34" charset="0"/>
                <a:ea typeface="Calibri" pitchFamily="34" charset="-122"/>
                <a:cs typeface="Calibri" pitchFamily="34" charset="-120"/>
              </a:rPr>
              <a:t>OLIST MARKETPLACE ANALYSIS</a:t>
            </a:r>
            <a:endParaRPr lang="en-US" sz="1300" dirty="0"/>
          </a:p>
        </p:txBody>
      </p:sp>
      <p:sp>
        <p:nvSpPr>
          <p:cNvPr id="3" name="Text 1"/>
          <p:cNvSpPr txBox="1"/>
          <p:nvPr/>
        </p:nvSpPr>
        <p:spPr>
          <a:xfrm>
            <a:off x="640080" y="868680"/>
            <a:ext cx="107899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Is Driving Customer Satisfaction?</a:t>
            </a:r>
            <a:endParaRPr lang="en-US" sz="4000" dirty="0"/>
          </a:p>
        </p:txBody>
      </p:sp>
      <p:sp>
        <p:nvSpPr>
          <p:cNvPr id="4" name="Text 2"/>
          <p:cNvSpPr txBox="1"/>
          <p:nvPr/>
        </p:nvSpPr>
        <p:spPr>
          <a:xfrm>
            <a:off x="640080" y="1965960"/>
            <a:ext cx="7863840" cy="822960"/>
          </a:xfrm>
          <a:prstGeom prst="rect">
            <a:avLst/>
          </a:prstGeom>
          <a:noFill/>
          <a:ln/>
        </p:spPr>
        <p:txBody>
          <a:bodyPr wrap="square" lIns="0" tIns="0" rIns="0" bIns="0" rtlCol="0" anchor="ctr"/>
          <a:lstStyle/>
          <a:p>
            <a:pPr indent="0" marL="0">
              <a:lnSpc>
                <a:spcPct val="120000"/>
              </a:lnSpc>
              <a:buNone/>
            </a:pPr>
            <a:r>
              <a:rPr lang="en-US" sz="1450" dirty="0">
                <a:solidFill>
                  <a:srgbClr val="D7E2EE"/>
                </a:solidFill>
                <a:latin typeface="Calibri" pitchFamily="34" charset="0"/>
                <a:ea typeface="Calibri" pitchFamily="34" charset="-122"/>
                <a:cs typeface="Calibri" pitchFamily="34" charset="-120"/>
              </a:rPr>
              <a:t>Olist wants to understand marketplace performance and customer satisfaction so it can prioritize the improvements that matter most. This analysis works through six questions using order-level data from the platform.</a:t>
            </a:r>
            <a:endParaRPr lang="en-US" sz="1450" dirty="0"/>
          </a:p>
        </p:txBody>
      </p:sp>
      <p:sp>
        <p:nvSpPr>
          <p:cNvPr id="5" name="Shape 3"/>
          <p:cNvSpPr/>
          <p:nvPr/>
        </p:nvSpPr>
        <p:spPr>
          <a:xfrm>
            <a:off x="640080" y="3017520"/>
            <a:ext cx="1783080" cy="1417320"/>
          </a:xfrm>
          <a:prstGeom prst="roundRect">
            <a:avLst>
              <a:gd name="adj" fmla="val 6452"/>
            </a:avLst>
          </a:prstGeom>
          <a:solidFill>
            <a:srgbClr val="2C3768"/>
          </a:solidFill>
          <a:ln w="12700">
            <a:solidFill>
              <a:srgbClr val="3B4780"/>
            </a:solidFill>
            <a:prstDash val="solid"/>
          </a:ln>
        </p:spPr>
      </p:sp>
      <p:pic>
        <p:nvPicPr>
          <p:cNvPr id="6" name="Image 0" descr="/home/claude/deck/icons/q1_growth.png">    </p:cNvPr>
          <p:cNvPicPr>
            <a:picLocks noChangeAspect="1"/>
          </p:cNvPicPr>
          <p:nvPr/>
        </p:nvPicPr>
        <p:blipFill>
          <a:blip r:embed="rId1"/>
          <a:stretch>
            <a:fillRect/>
          </a:stretch>
        </p:blipFill>
        <p:spPr>
          <a:xfrm>
            <a:off x="1330452" y="3218688"/>
            <a:ext cx="402336" cy="402336"/>
          </a:xfrm>
          <a:prstGeom prst="rect">
            <a:avLst/>
          </a:prstGeom>
        </p:spPr>
      </p:pic>
      <p:sp>
        <p:nvSpPr>
          <p:cNvPr id="7" name="Text 4"/>
          <p:cNvSpPr txBox="1"/>
          <p:nvPr/>
        </p:nvSpPr>
        <p:spPr>
          <a:xfrm>
            <a:off x="640080" y="3163824"/>
            <a:ext cx="1618488" cy="274320"/>
          </a:xfrm>
          <a:prstGeom prst="rect">
            <a:avLst/>
          </a:prstGeom>
          <a:noFill/>
          <a:ln/>
        </p:spPr>
        <p:txBody>
          <a:bodyPr wrap="square" lIns="0" tIns="0" rIns="0" bIns="0" rtlCol="0" anchor="ctr"/>
          <a:lstStyle/>
          <a:p>
            <a:pPr algn="r" indent="0" marL="0">
              <a:buNone/>
            </a:pPr>
            <a:r>
              <a:rPr lang="en-US" sz="1000" b="1" dirty="0">
                <a:solidFill>
                  <a:srgbClr val="7C90BE"/>
                </a:solidFill>
                <a:latin typeface="Calibri" pitchFamily="34" charset="0"/>
                <a:ea typeface="Calibri" pitchFamily="34" charset="-122"/>
                <a:cs typeface="Calibri" pitchFamily="34" charset="-120"/>
              </a:rPr>
              <a:t>Q1</a:t>
            </a:r>
            <a:endParaRPr lang="en-US" sz="1000" dirty="0"/>
          </a:p>
        </p:txBody>
      </p:sp>
      <p:sp>
        <p:nvSpPr>
          <p:cNvPr id="8" name="Text 5"/>
          <p:cNvSpPr txBox="1"/>
          <p:nvPr/>
        </p:nvSpPr>
        <p:spPr>
          <a:xfrm>
            <a:off x="749808" y="3703320"/>
            <a:ext cx="1563624" cy="640080"/>
          </a:xfrm>
          <a:prstGeom prst="rect">
            <a:avLst/>
          </a:prstGeom>
          <a:noFill/>
          <a:ln/>
        </p:spPr>
        <p:txBody>
          <a:bodyPr wrap="square" lIns="0" tIns="0" rIns="0" bIns="0"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Marketplace</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performance over time</a:t>
            </a:r>
            <a:endParaRPr lang="en-US" sz="1100" dirty="0"/>
          </a:p>
        </p:txBody>
      </p:sp>
      <p:sp>
        <p:nvSpPr>
          <p:cNvPr id="9" name="Shape 6"/>
          <p:cNvSpPr/>
          <p:nvPr/>
        </p:nvSpPr>
        <p:spPr>
          <a:xfrm>
            <a:off x="2587752" y="3017520"/>
            <a:ext cx="1783080" cy="1417320"/>
          </a:xfrm>
          <a:prstGeom prst="roundRect">
            <a:avLst>
              <a:gd name="adj" fmla="val 6452"/>
            </a:avLst>
          </a:prstGeom>
          <a:solidFill>
            <a:srgbClr val="2C3768"/>
          </a:solidFill>
          <a:ln w="12700">
            <a:solidFill>
              <a:srgbClr val="3B4780"/>
            </a:solidFill>
            <a:prstDash val="solid"/>
          </a:ln>
        </p:spPr>
      </p:sp>
      <p:pic>
        <p:nvPicPr>
          <p:cNvPr id="10" name="Image 1" descr="/home/claude/deck/icons/q2_delivery.png">    </p:cNvPr>
          <p:cNvPicPr>
            <a:picLocks noChangeAspect="1"/>
          </p:cNvPicPr>
          <p:nvPr/>
        </p:nvPicPr>
        <p:blipFill>
          <a:blip r:embed="rId2"/>
          <a:stretch>
            <a:fillRect/>
          </a:stretch>
        </p:blipFill>
        <p:spPr>
          <a:xfrm>
            <a:off x="3278124" y="3218688"/>
            <a:ext cx="402336" cy="402336"/>
          </a:xfrm>
          <a:prstGeom prst="rect">
            <a:avLst/>
          </a:prstGeom>
        </p:spPr>
      </p:pic>
      <p:sp>
        <p:nvSpPr>
          <p:cNvPr id="11" name="Text 7"/>
          <p:cNvSpPr txBox="1"/>
          <p:nvPr/>
        </p:nvSpPr>
        <p:spPr>
          <a:xfrm>
            <a:off x="2587752" y="3163824"/>
            <a:ext cx="1618488" cy="274320"/>
          </a:xfrm>
          <a:prstGeom prst="rect">
            <a:avLst/>
          </a:prstGeom>
          <a:noFill/>
          <a:ln/>
        </p:spPr>
        <p:txBody>
          <a:bodyPr wrap="square" lIns="0" tIns="0" rIns="0" bIns="0" rtlCol="0" anchor="ctr"/>
          <a:lstStyle/>
          <a:p>
            <a:pPr algn="r" indent="0" marL="0">
              <a:buNone/>
            </a:pPr>
            <a:r>
              <a:rPr lang="en-US" sz="1000" b="1" dirty="0">
                <a:solidFill>
                  <a:srgbClr val="7C90BE"/>
                </a:solidFill>
                <a:latin typeface="Calibri" pitchFamily="34" charset="0"/>
                <a:ea typeface="Calibri" pitchFamily="34" charset="-122"/>
                <a:cs typeface="Calibri" pitchFamily="34" charset="-120"/>
              </a:rPr>
              <a:t>Q2</a:t>
            </a:r>
            <a:endParaRPr lang="en-US" sz="1000" dirty="0"/>
          </a:p>
        </p:txBody>
      </p:sp>
      <p:sp>
        <p:nvSpPr>
          <p:cNvPr id="12" name="Text 8"/>
          <p:cNvSpPr txBox="1"/>
          <p:nvPr/>
        </p:nvSpPr>
        <p:spPr>
          <a:xfrm>
            <a:off x="2697480" y="3703320"/>
            <a:ext cx="1563624" cy="640080"/>
          </a:xfrm>
          <a:prstGeom prst="rect">
            <a:avLst/>
          </a:prstGeom>
          <a:noFill/>
          <a:ln/>
        </p:spPr>
        <p:txBody>
          <a:bodyPr wrap="square" lIns="0" tIns="0" rIns="0" bIns="0"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Delivery timing</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and reviews</a:t>
            </a:r>
            <a:endParaRPr lang="en-US" sz="1100" dirty="0"/>
          </a:p>
        </p:txBody>
      </p:sp>
      <p:sp>
        <p:nvSpPr>
          <p:cNvPr id="13" name="Shape 9"/>
          <p:cNvSpPr/>
          <p:nvPr/>
        </p:nvSpPr>
        <p:spPr>
          <a:xfrm>
            <a:off x="4535424" y="3017520"/>
            <a:ext cx="1783080" cy="1417320"/>
          </a:xfrm>
          <a:prstGeom prst="roundRect">
            <a:avLst>
              <a:gd name="adj" fmla="val 6452"/>
            </a:avLst>
          </a:prstGeom>
          <a:solidFill>
            <a:srgbClr val="2C3768"/>
          </a:solidFill>
          <a:ln w="12700">
            <a:solidFill>
              <a:srgbClr val="3B4780"/>
            </a:solidFill>
            <a:prstDash val="solid"/>
          </a:ln>
        </p:spPr>
      </p:sp>
      <p:pic>
        <p:nvPicPr>
          <p:cNvPr id="14" name="Image 2" descr="/home/claude/deck/icons/q3_geo.png">    </p:cNvPr>
          <p:cNvPicPr>
            <a:picLocks noChangeAspect="1"/>
          </p:cNvPicPr>
          <p:nvPr/>
        </p:nvPicPr>
        <p:blipFill>
          <a:blip r:embed="rId3"/>
          <a:stretch>
            <a:fillRect/>
          </a:stretch>
        </p:blipFill>
        <p:spPr>
          <a:xfrm>
            <a:off x="5225796" y="3218688"/>
            <a:ext cx="402336" cy="402336"/>
          </a:xfrm>
          <a:prstGeom prst="rect">
            <a:avLst/>
          </a:prstGeom>
        </p:spPr>
      </p:pic>
      <p:sp>
        <p:nvSpPr>
          <p:cNvPr id="15" name="Text 10"/>
          <p:cNvSpPr txBox="1"/>
          <p:nvPr/>
        </p:nvSpPr>
        <p:spPr>
          <a:xfrm>
            <a:off x="4535424" y="3163824"/>
            <a:ext cx="1618488" cy="274320"/>
          </a:xfrm>
          <a:prstGeom prst="rect">
            <a:avLst/>
          </a:prstGeom>
          <a:noFill/>
          <a:ln/>
        </p:spPr>
        <p:txBody>
          <a:bodyPr wrap="square" lIns="0" tIns="0" rIns="0" bIns="0" rtlCol="0" anchor="ctr"/>
          <a:lstStyle/>
          <a:p>
            <a:pPr algn="r" indent="0" marL="0">
              <a:buNone/>
            </a:pPr>
            <a:r>
              <a:rPr lang="en-US" sz="1000" b="1" dirty="0">
                <a:solidFill>
                  <a:srgbClr val="7C90BE"/>
                </a:solidFill>
                <a:latin typeface="Calibri" pitchFamily="34" charset="0"/>
                <a:ea typeface="Calibri" pitchFamily="34" charset="-122"/>
                <a:cs typeface="Calibri" pitchFamily="34" charset="-120"/>
              </a:rPr>
              <a:t>Q3</a:t>
            </a:r>
            <a:endParaRPr lang="en-US" sz="1000" dirty="0"/>
          </a:p>
        </p:txBody>
      </p:sp>
      <p:sp>
        <p:nvSpPr>
          <p:cNvPr id="16" name="Text 11"/>
          <p:cNvSpPr txBox="1"/>
          <p:nvPr/>
        </p:nvSpPr>
        <p:spPr>
          <a:xfrm>
            <a:off x="4645152" y="3703320"/>
            <a:ext cx="1563624" cy="640080"/>
          </a:xfrm>
          <a:prstGeom prst="rect">
            <a:avLst/>
          </a:prstGeom>
          <a:noFill/>
          <a:ln/>
        </p:spPr>
        <p:txBody>
          <a:bodyPr wrap="square" lIns="0" tIns="0" rIns="0" bIns="0"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Geographic and</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seller patterns</a:t>
            </a:r>
            <a:endParaRPr lang="en-US" sz="1100" dirty="0"/>
          </a:p>
        </p:txBody>
      </p:sp>
      <p:sp>
        <p:nvSpPr>
          <p:cNvPr id="17" name="Shape 12"/>
          <p:cNvSpPr/>
          <p:nvPr/>
        </p:nvSpPr>
        <p:spPr>
          <a:xfrm>
            <a:off x="640080" y="4599432"/>
            <a:ext cx="1783080" cy="1417320"/>
          </a:xfrm>
          <a:prstGeom prst="roundRect">
            <a:avLst>
              <a:gd name="adj" fmla="val 6452"/>
            </a:avLst>
          </a:prstGeom>
          <a:solidFill>
            <a:srgbClr val="2C3768"/>
          </a:solidFill>
          <a:ln w="12700">
            <a:solidFill>
              <a:srgbClr val="3B4780"/>
            </a:solidFill>
            <a:prstDash val="solid"/>
          </a:ln>
        </p:spPr>
      </p:sp>
      <p:pic>
        <p:nvPicPr>
          <p:cNvPr id="18" name="Image 3" descr="/home/claude/deck/icons/q4_category.png">    </p:cNvPr>
          <p:cNvPicPr>
            <a:picLocks noChangeAspect="1"/>
          </p:cNvPicPr>
          <p:nvPr/>
        </p:nvPicPr>
        <p:blipFill>
          <a:blip r:embed="rId4"/>
          <a:stretch>
            <a:fillRect/>
          </a:stretch>
        </p:blipFill>
        <p:spPr>
          <a:xfrm>
            <a:off x="1330452" y="4800600"/>
            <a:ext cx="402336" cy="402336"/>
          </a:xfrm>
          <a:prstGeom prst="rect">
            <a:avLst/>
          </a:prstGeom>
        </p:spPr>
      </p:pic>
      <p:sp>
        <p:nvSpPr>
          <p:cNvPr id="19" name="Text 13"/>
          <p:cNvSpPr txBox="1"/>
          <p:nvPr/>
        </p:nvSpPr>
        <p:spPr>
          <a:xfrm>
            <a:off x="640080" y="4745736"/>
            <a:ext cx="1618488" cy="274320"/>
          </a:xfrm>
          <a:prstGeom prst="rect">
            <a:avLst/>
          </a:prstGeom>
          <a:noFill/>
          <a:ln/>
        </p:spPr>
        <p:txBody>
          <a:bodyPr wrap="square" lIns="0" tIns="0" rIns="0" bIns="0" rtlCol="0" anchor="ctr"/>
          <a:lstStyle/>
          <a:p>
            <a:pPr algn="r" indent="0" marL="0">
              <a:buNone/>
            </a:pPr>
            <a:r>
              <a:rPr lang="en-US" sz="1000" b="1" dirty="0">
                <a:solidFill>
                  <a:srgbClr val="7C90BE"/>
                </a:solidFill>
                <a:latin typeface="Calibri" pitchFamily="34" charset="0"/>
                <a:ea typeface="Calibri" pitchFamily="34" charset="-122"/>
                <a:cs typeface="Calibri" pitchFamily="34" charset="-120"/>
              </a:rPr>
              <a:t>Q4</a:t>
            </a:r>
            <a:endParaRPr lang="en-US" sz="1000" dirty="0"/>
          </a:p>
        </p:txBody>
      </p:sp>
      <p:sp>
        <p:nvSpPr>
          <p:cNvPr id="20" name="Text 14"/>
          <p:cNvSpPr txBox="1"/>
          <p:nvPr/>
        </p:nvSpPr>
        <p:spPr>
          <a:xfrm>
            <a:off x="749808" y="5285232"/>
            <a:ext cx="1563624" cy="640080"/>
          </a:xfrm>
          <a:prstGeom prst="rect">
            <a:avLst/>
          </a:prstGeom>
          <a:noFill/>
          <a:ln/>
        </p:spPr>
        <p:txBody>
          <a:bodyPr wrap="square" lIns="0" tIns="0" rIns="0" bIns="0"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Product category</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performance</a:t>
            </a:r>
            <a:endParaRPr lang="en-US" sz="1100" dirty="0"/>
          </a:p>
        </p:txBody>
      </p:sp>
      <p:sp>
        <p:nvSpPr>
          <p:cNvPr id="21" name="Shape 15"/>
          <p:cNvSpPr/>
          <p:nvPr/>
        </p:nvSpPr>
        <p:spPr>
          <a:xfrm>
            <a:off x="2587752" y="4599432"/>
            <a:ext cx="1783080" cy="1417320"/>
          </a:xfrm>
          <a:prstGeom prst="roundRect">
            <a:avLst>
              <a:gd name="adj" fmla="val 6452"/>
            </a:avLst>
          </a:prstGeom>
          <a:solidFill>
            <a:srgbClr val="2C3768"/>
          </a:solidFill>
          <a:ln w="12700">
            <a:solidFill>
              <a:srgbClr val="3B4780"/>
            </a:solidFill>
            <a:prstDash val="solid"/>
          </a:ln>
        </p:spPr>
      </p:sp>
      <p:pic>
        <p:nvPicPr>
          <p:cNvPr id="22" name="Image 4" descr="/home/claude/deck/icons/q5_payment.png">    </p:cNvPr>
          <p:cNvPicPr>
            <a:picLocks noChangeAspect="1"/>
          </p:cNvPicPr>
          <p:nvPr/>
        </p:nvPicPr>
        <p:blipFill>
          <a:blip r:embed="rId5"/>
          <a:stretch>
            <a:fillRect/>
          </a:stretch>
        </p:blipFill>
        <p:spPr>
          <a:xfrm>
            <a:off x="3278124" y="4800600"/>
            <a:ext cx="402336" cy="402336"/>
          </a:xfrm>
          <a:prstGeom prst="rect">
            <a:avLst/>
          </a:prstGeom>
        </p:spPr>
      </p:pic>
      <p:sp>
        <p:nvSpPr>
          <p:cNvPr id="23" name="Text 16"/>
          <p:cNvSpPr txBox="1"/>
          <p:nvPr/>
        </p:nvSpPr>
        <p:spPr>
          <a:xfrm>
            <a:off x="2587752" y="4745736"/>
            <a:ext cx="1618488" cy="274320"/>
          </a:xfrm>
          <a:prstGeom prst="rect">
            <a:avLst/>
          </a:prstGeom>
          <a:noFill/>
          <a:ln/>
        </p:spPr>
        <p:txBody>
          <a:bodyPr wrap="square" lIns="0" tIns="0" rIns="0" bIns="0" rtlCol="0" anchor="ctr"/>
          <a:lstStyle/>
          <a:p>
            <a:pPr algn="r" indent="0" marL="0">
              <a:buNone/>
            </a:pPr>
            <a:r>
              <a:rPr lang="en-US" sz="1000" b="1" dirty="0">
                <a:solidFill>
                  <a:srgbClr val="7C90BE"/>
                </a:solidFill>
                <a:latin typeface="Calibri" pitchFamily="34" charset="0"/>
                <a:ea typeface="Calibri" pitchFamily="34" charset="-122"/>
                <a:cs typeface="Calibri" pitchFamily="34" charset="-120"/>
              </a:rPr>
              <a:t>Q5</a:t>
            </a:r>
            <a:endParaRPr lang="en-US" sz="1000" dirty="0"/>
          </a:p>
        </p:txBody>
      </p:sp>
      <p:sp>
        <p:nvSpPr>
          <p:cNvPr id="24" name="Text 17"/>
          <p:cNvSpPr txBox="1"/>
          <p:nvPr/>
        </p:nvSpPr>
        <p:spPr>
          <a:xfrm>
            <a:off x="2697480" y="5285232"/>
            <a:ext cx="1563624" cy="640080"/>
          </a:xfrm>
          <a:prstGeom prst="rect">
            <a:avLst/>
          </a:prstGeom>
          <a:noFill/>
          <a:ln/>
        </p:spPr>
        <p:txBody>
          <a:bodyPr wrap="square" lIns="0" tIns="0" rIns="0" bIns="0"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Payment</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behaviour</a:t>
            </a:r>
            <a:endParaRPr lang="en-US" sz="1100" dirty="0"/>
          </a:p>
        </p:txBody>
      </p:sp>
      <p:sp>
        <p:nvSpPr>
          <p:cNvPr id="25" name="Shape 18"/>
          <p:cNvSpPr/>
          <p:nvPr/>
        </p:nvSpPr>
        <p:spPr>
          <a:xfrm>
            <a:off x="4535424" y="4599432"/>
            <a:ext cx="1783080" cy="1417320"/>
          </a:xfrm>
          <a:prstGeom prst="roundRect">
            <a:avLst>
              <a:gd name="adj" fmla="val 6452"/>
            </a:avLst>
          </a:prstGeom>
          <a:solidFill>
            <a:srgbClr val="2C3768"/>
          </a:solidFill>
          <a:ln w="12700">
            <a:solidFill>
              <a:srgbClr val="3B4780"/>
            </a:solidFill>
            <a:prstDash val="solid"/>
          </a:ln>
        </p:spPr>
      </p:sp>
      <p:pic>
        <p:nvPicPr>
          <p:cNvPr id="26" name="Image 5" descr="/home/claude/deck/icons/q6_root.png">    </p:cNvPr>
          <p:cNvPicPr>
            <a:picLocks noChangeAspect="1"/>
          </p:cNvPicPr>
          <p:nvPr/>
        </p:nvPicPr>
        <p:blipFill>
          <a:blip r:embed="rId6"/>
          <a:stretch>
            <a:fillRect/>
          </a:stretch>
        </p:blipFill>
        <p:spPr>
          <a:xfrm>
            <a:off x="5225796" y="4800600"/>
            <a:ext cx="402336" cy="402336"/>
          </a:xfrm>
          <a:prstGeom prst="rect">
            <a:avLst/>
          </a:prstGeom>
        </p:spPr>
      </p:pic>
      <p:sp>
        <p:nvSpPr>
          <p:cNvPr id="27" name="Text 19"/>
          <p:cNvSpPr txBox="1"/>
          <p:nvPr/>
        </p:nvSpPr>
        <p:spPr>
          <a:xfrm>
            <a:off x="4535424" y="4745736"/>
            <a:ext cx="1618488" cy="274320"/>
          </a:xfrm>
          <a:prstGeom prst="rect">
            <a:avLst/>
          </a:prstGeom>
          <a:noFill/>
          <a:ln/>
        </p:spPr>
        <p:txBody>
          <a:bodyPr wrap="square" lIns="0" tIns="0" rIns="0" bIns="0" rtlCol="0" anchor="ctr"/>
          <a:lstStyle/>
          <a:p>
            <a:pPr algn="r" indent="0" marL="0">
              <a:buNone/>
            </a:pPr>
            <a:r>
              <a:rPr lang="en-US" sz="1000" b="1" dirty="0">
                <a:solidFill>
                  <a:srgbClr val="7C90BE"/>
                </a:solidFill>
                <a:latin typeface="Calibri" pitchFamily="34" charset="0"/>
                <a:ea typeface="Calibri" pitchFamily="34" charset="-122"/>
                <a:cs typeface="Calibri" pitchFamily="34" charset="-120"/>
              </a:rPr>
              <a:t>Q6</a:t>
            </a:r>
            <a:endParaRPr lang="en-US" sz="1000" dirty="0"/>
          </a:p>
        </p:txBody>
      </p:sp>
      <p:sp>
        <p:nvSpPr>
          <p:cNvPr id="28" name="Text 20"/>
          <p:cNvSpPr txBox="1"/>
          <p:nvPr/>
        </p:nvSpPr>
        <p:spPr>
          <a:xfrm>
            <a:off x="4645152" y="5285232"/>
            <a:ext cx="1563624" cy="640080"/>
          </a:xfrm>
          <a:prstGeom prst="rect">
            <a:avLst/>
          </a:prstGeom>
          <a:noFill/>
          <a:ln/>
        </p:spPr>
        <p:txBody>
          <a:bodyPr wrap="square" lIns="0" tIns="0" rIns="0" bIns="0" rtlCol="0" anchor="ctr"/>
          <a:lstStyle/>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Root causes of</a:t>
            </a:r>
            <a:endParaRPr lang="en-US" sz="1100" dirty="0"/>
          </a:p>
          <a:p>
            <a:pPr algn="ctr" indent="0" marL="0">
              <a:lnSpc>
                <a:spcPct val="105000"/>
              </a:lnSpc>
              <a:buNone/>
            </a:pPr>
            <a:r>
              <a:rPr lang="en-US" sz="1100" dirty="0">
                <a:solidFill>
                  <a:srgbClr val="FFFFFF"/>
                </a:solidFill>
                <a:latin typeface="Calibri" pitchFamily="34" charset="0"/>
                <a:ea typeface="Calibri" pitchFamily="34" charset="-122"/>
                <a:cs typeface="Calibri" pitchFamily="34" charset="-120"/>
              </a:rPr>
              <a:t>low reviews</a:t>
            </a:r>
            <a:endParaRPr lang="en-US" sz="1100" dirty="0"/>
          </a:p>
        </p:txBody>
      </p:sp>
      <p:sp>
        <p:nvSpPr>
          <p:cNvPr id="29" name="Text 21"/>
          <p:cNvSpPr txBox="1"/>
          <p:nvPr/>
        </p:nvSpPr>
        <p:spPr>
          <a:xfrm>
            <a:off x="640080" y="6263640"/>
            <a:ext cx="9144000" cy="365760"/>
          </a:xfrm>
          <a:prstGeom prst="rect">
            <a:avLst/>
          </a:prstGeom>
          <a:noFill/>
          <a:ln/>
        </p:spPr>
        <p:txBody>
          <a:bodyPr wrap="square" lIns="0" tIns="0" rIns="0" bIns="0" rtlCol="0" anchor="ctr"/>
          <a:lstStyle/>
          <a:p>
            <a:pPr indent="0" marL="0">
              <a:buNone/>
            </a:pPr>
            <a:r>
              <a:rPr lang="en-US" sz="1600" i="1" dirty="0">
                <a:solidFill>
                  <a:srgbClr val="E0A93E"/>
                </a:solidFill>
                <a:latin typeface="Cambria" pitchFamily="34" charset="0"/>
                <a:ea typeface="Cambria" pitchFamily="34" charset="-122"/>
                <a:cs typeface="Cambria" pitchFamily="34" charset="-120"/>
              </a:rPr>
              <a:t>From 99,000+ orders to actionable business decisions</a:t>
            </a:r>
            <a:endParaRPr lang="en-US" sz="1600" dirty="0"/>
          </a:p>
        </p:txBody>
      </p:sp>
      <p:sp>
        <p:nvSpPr>
          <p:cNvPr id="30" name="Text 22"/>
          <p:cNvSpPr txBox="1"/>
          <p:nvPr/>
        </p:nvSpPr>
        <p:spPr>
          <a:xfrm>
            <a:off x="8595360" y="6309360"/>
            <a:ext cx="2926080" cy="274320"/>
          </a:xfrm>
          <a:prstGeom prst="rect">
            <a:avLst/>
          </a:prstGeom>
          <a:noFill/>
          <a:ln/>
        </p:spPr>
        <p:txBody>
          <a:bodyPr wrap="square" lIns="0" tIns="0" rIns="0" bIns="0" rtlCol="0" anchor="ctr"/>
          <a:lstStyle/>
          <a:p>
            <a:pPr algn="r" indent="0" marL="0">
              <a:buNone/>
            </a:pPr>
            <a:r>
              <a:rPr lang="en-US" sz="1100" dirty="0">
                <a:solidFill>
                  <a:srgbClr val="9FB6D9"/>
                </a:solidFill>
                <a:latin typeface="Calibri" pitchFamily="34" charset="0"/>
                <a:ea typeface="Calibri" pitchFamily="34" charset="-122"/>
                <a:cs typeface="Calibri" pitchFamily="34" charset="-120"/>
              </a:rPr>
              <a:t>Prepared by Molly Sharma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B"/>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CORE QUESTION 1 · MARKETPLACE PERFORMANCE</a:t>
            </a:r>
            <a:endParaRPr lang="en-US" sz="1250" dirty="0"/>
          </a:p>
        </p:txBody>
      </p:sp>
      <p:sp>
        <p:nvSpPr>
          <p:cNvPr id="3" name="Text 1"/>
          <p:cNvSpPr txBox="1"/>
          <p:nvPr/>
        </p:nvSpPr>
        <p:spPr>
          <a:xfrm>
            <a:off x="548640" y="685800"/>
            <a:ext cx="11064240" cy="640080"/>
          </a:xfrm>
          <a:prstGeom prst="rect">
            <a:avLst/>
          </a:prstGeom>
          <a:noFill/>
          <a:ln/>
        </p:spPr>
        <p:txBody>
          <a:bodyPr wrap="square" lIns="0" tIns="0" rIns="0" bIns="0"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Order Volume Grew Faster Than Customer Satisfaction</a:t>
            </a:r>
            <a:endParaRPr lang="en-US" sz="2600" dirty="0"/>
          </a:p>
        </p:txBody>
      </p:sp>
      <p:sp>
        <p:nvSpPr>
          <p:cNvPr id="4" name="Text 2"/>
          <p:cNvSpPr txBox="1"/>
          <p:nvPr/>
        </p:nvSpPr>
        <p:spPr>
          <a:xfrm>
            <a:off x="548640" y="1298448"/>
            <a:ext cx="11064240" cy="594360"/>
          </a:xfrm>
          <a:prstGeom prst="rect">
            <a:avLst/>
          </a:prstGeom>
          <a:noFill/>
          <a:ln/>
        </p:spPr>
        <p:txBody>
          <a:bodyPr wrap="square" lIns="0" tIns="0" rIns="0" bIns="0" rtlCol="0" anchor="ctr"/>
          <a:lstStyle/>
          <a:p>
            <a:pPr indent="0" marL="0">
              <a:lnSpc>
                <a:spcPct val="115000"/>
              </a:lnSpc>
              <a:buNone/>
            </a:pPr>
            <a:r>
              <a:rPr lang="en-US" sz="1300" dirty="0">
                <a:solidFill>
                  <a:srgbClr val="5A6472"/>
                </a:solidFill>
                <a:latin typeface="Calibri" pitchFamily="34" charset="0"/>
                <a:ea typeface="Calibri" pitchFamily="34" charset="-122"/>
                <a:cs typeface="Calibri" pitchFamily="34" charset="-120"/>
              </a:rPr>
              <a:t>Across the full order history on the platform, purchase volume climbed steadily while average review scores did not scale with it in the same way. Growth and satisfaction are related, but they are not the same signal, and tracking only one hides the other.</a:t>
            </a:r>
            <a:endParaRPr lang="en-US" sz="1300" dirty="0"/>
          </a:p>
        </p:txBody>
      </p:sp>
      <p:sp>
        <p:nvSpPr>
          <p:cNvPr id="5" name="Shape 3"/>
          <p:cNvSpPr/>
          <p:nvPr/>
        </p:nvSpPr>
        <p:spPr>
          <a:xfrm>
            <a:off x="548640" y="2057400"/>
            <a:ext cx="3291840" cy="3977640"/>
          </a:xfrm>
          <a:prstGeom prst="roundRect">
            <a:avLst>
              <a:gd name="adj" fmla="val 2222"/>
            </a:avLst>
          </a:prstGeom>
          <a:solidFill>
            <a:srgbClr val="065A82"/>
          </a:solidFill>
          <a:ln/>
        </p:spPr>
      </p:sp>
      <p:sp>
        <p:nvSpPr>
          <p:cNvPr id="6" name="Text 4"/>
          <p:cNvSpPr txBox="1"/>
          <p:nvPr/>
        </p:nvSpPr>
        <p:spPr>
          <a:xfrm>
            <a:off x="548640" y="2331720"/>
            <a:ext cx="3291840" cy="8686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99,441</a:t>
            </a:r>
            <a:endParaRPr lang="en-US" sz="4400" dirty="0"/>
          </a:p>
        </p:txBody>
      </p:sp>
      <p:sp>
        <p:nvSpPr>
          <p:cNvPr id="7" name="Text 5"/>
          <p:cNvSpPr txBox="1"/>
          <p:nvPr/>
        </p:nvSpPr>
        <p:spPr>
          <a:xfrm>
            <a:off x="685800" y="3154680"/>
            <a:ext cx="3017520" cy="365760"/>
          </a:xfrm>
          <a:prstGeom prst="rect">
            <a:avLst/>
          </a:prstGeom>
          <a:noFill/>
          <a:ln/>
        </p:spPr>
        <p:txBody>
          <a:bodyPr wrap="square" lIns="0" tIns="0" rIns="0" bIns="0" rtlCol="0" anchor="ctr"/>
          <a:lstStyle/>
          <a:p>
            <a:pPr algn="ctr" indent="0" marL="0">
              <a:buNone/>
            </a:pPr>
            <a:r>
              <a:rPr lang="en-US" sz="1300" dirty="0">
                <a:solidFill>
                  <a:srgbClr val="CFE4EF"/>
                </a:solidFill>
                <a:latin typeface="Calibri" pitchFamily="34" charset="0"/>
                <a:ea typeface="Calibri" pitchFamily="34" charset="-122"/>
                <a:cs typeface="Calibri" pitchFamily="34" charset="-120"/>
              </a:rPr>
              <a:t>total orders analyzed</a:t>
            </a:r>
            <a:endParaRPr lang="en-US" sz="1300" dirty="0"/>
          </a:p>
        </p:txBody>
      </p:sp>
      <p:sp>
        <p:nvSpPr>
          <p:cNvPr id="8" name="Shape 6"/>
          <p:cNvSpPr/>
          <p:nvPr/>
        </p:nvSpPr>
        <p:spPr>
          <a:xfrm>
            <a:off x="868680" y="3703320"/>
            <a:ext cx="2651760" cy="0"/>
          </a:xfrm>
          <a:prstGeom prst="line">
            <a:avLst/>
          </a:prstGeom>
          <a:noFill/>
          <a:ln w="12700">
            <a:solidFill>
              <a:srgbClr val="4E85A6"/>
            </a:solidFill>
            <a:prstDash val="solid"/>
          </a:ln>
        </p:spPr>
      </p:sp>
      <p:sp>
        <p:nvSpPr>
          <p:cNvPr id="9" name="Text 7"/>
          <p:cNvSpPr txBox="1"/>
          <p:nvPr/>
        </p:nvSpPr>
        <p:spPr>
          <a:xfrm>
            <a:off x="685800" y="3886200"/>
            <a:ext cx="30175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2016 to 2018</a:t>
            </a:r>
            <a:endParaRPr lang="en-US" sz="1200" dirty="0"/>
          </a:p>
        </p:txBody>
      </p:sp>
      <p:sp>
        <p:nvSpPr>
          <p:cNvPr id="10" name="Text 8"/>
          <p:cNvSpPr txBox="1"/>
          <p:nvPr/>
        </p:nvSpPr>
        <p:spPr>
          <a:xfrm>
            <a:off x="777240" y="4206240"/>
            <a:ext cx="2834640" cy="548640"/>
          </a:xfrm>
          <a:prstGeom prst="rect">
            <a:avLst/>
          </a:prstGeom>
          <a:noFill/>
          <a:ln/>
        </p:spPr>
        <p:txBody>
          <a:bodyPr wrap="square" lIns="0" tIns="0" rIns="0" bIns="0" rtlCol="0" anchor="ctr"/>
          <a:lstStyle/>
          <a:p>
            <a:pPr algn="ctr" indent="0" marL="0">
              <a:lnSpc>
                <a:spcPct val="110000"/>
              </a:lnSpc>
              <a:buNone/>
            </a:pPr>
            <a:r>
              <a:rPr lang="en-US" sz="1050" dirty="0">
                <a:solidFill>
                  <a:srgbClr val="CFE4EF"/>
                </a:solidFill>
                <a:latin typeface="Calibri" pitchFamily="34" charset="0"/>
                <a:ea typeface="Calibri" pitchFamily="34" charset="-122"/>
                <a:cs typeface="Calibri" pitchFamily="34" charset="-120"/>
              </a:rPr>
              <a:t>order history window covered by the dataset</a:t>
            </a:r>
            <a:endParaRPr lang="en-US" sz="1050" dirty="0"/>
          </a:p>
        </p:txBody>
      </p:sp>
      <p:pic>
        <p:nvPicPr>
          <p:cNvPr id="11" name="Image 0" descr="/home/claude/deck/icons/check_white.png">    </p:cNvPr>
          <p:cNvPicPr>
            <a:picLocks noChangeAspect="1"/>
          </p:cNvPicPr>
          <p:nvPr/>
        </p:nvPicPr>
        <p:blipFill>
          <a:blip r:embed="rId1"/>
          <a:stretch>
            <a:fillRect/>
          </a:stretch>
        </p:blipFill>
        <p:spPr>
          <a:xfrm>
            <a:off x="1691640" y="4892040"/>
            <a:ext cx="457200" cy="457200"/>
          </a:xfrm>
          <a:prstGeom prst="rect">
            <a:avLst/>
          </a:prstGeom>
        </p:spPr>
      </p:pic>
      <p:sp>
        <p:nvSpPr>
          <p:cNvPr id="12" name="Text 9"/>
          <p:cNvSpPr txBox="1"/>
          <p:nvPr/>
        </p:nvSpPr>
        <p:spPr>
          <a:xfrm>
            <a:off x="685800" y="5394960"/>
            <a:ext cx="3017520" cy="548640"/>
          </a:xfrm>
          <a:prstGeom prst="rect">
            <a:avLst/>
          </a:prstGeom>
          <a:noFill/>
          <a:ln/>
        </p:spPr>
        <p:txBody>
          <a:bodyPr wrap="square" lIns="0" tIns="0" rIns="0" bIns="0" rtlCol="0" anchor="ctr"/>
          <a:lstStyle/>
          <a:p>
            <a:pPr algn="ctr" indent="0" marL="0">
              <a:lnSpc>
                <a:spcPct val="110000"/>
              </a:lnSpc>
              <a:buNone/>
            </a:pPr>
            <a:r>
              <a:rPr lang="en-US" sz="1050" i="1" dirty="0">
                <a:solidFill>
                  <a:srgbClr val="CFE4EF"/>
                </a:solidFill>
                <a:latin typeface="Calibri" pitchFamily="34" charset="0"/>
                <a:ea typeface="Calibri" pitchFamily="34" charset="-122"/>
                <a:cs typeface="Calibri" pitchFamily="34" charset="-120"/>
              </a:rPr>
              <a:t>Reliable base for trend and</a:t>
            </a:r>
            <a:endParaRPr lang="en-US" sz="1050" dirty="0"/>
          </a:p>
          <a:p>
            <a:pPr algn="ctr" indent="0" marL="0">
              <a:lnSpc>
                <a:spcPct val="110000"/>
              </a:lnSpc>
              <a:buNone/>
            </a:pPr>
            <a:r>
              <a:rPr lang="en-US" sz="1050" i="1" dirty="0">
                <a:solidFill>
                  <a:srgbClr val="CFE4EF"/>
                </a:solidFill>
                <a:latin typeface="Calibri" pitchFamily="34" charset="0"/>
                <a:ea typeface="Calibri" pitchFamily="34" charset="-122"/>
                <a:cs typeface="Calibri" pitchFamily="34" charset="-120"/>
              </a:rPr>
              <a:t>segment-level analysis</a:t>
            </a:r>
            <a:endParaRPr lang="en-US" sz="1050" dirty="0"/>
          </a:p>
        </p:txBody>
      </p:sp>
      <p:sp>
        <p:nvSpPr>
          <p:cNvPr id="13" name="Shape 10"/>
          <p:cNvSpPr/>
          <p:nvPr/>
        </p:nvSpPr>
        <p:spPr>
          <a:xfrm>
            <a:off x="4160520" y="2057400"/>
            <a:ext cx="3520440" cy="1874520"/>
          </a:xfrm>
          <a:prstGeom prst="roundRect">
            <a:avLst>
              <a:gd name="adj" fmla="val 3902"/>
            </a:avLst>
          </a:prstGeom>
          <a:solidFill>
            <a:srgbClr val="FFFFFF"/>
          </a:solidFill>
          <a:ln w="12700">
            <a:solidFill>
              <a:srgbClr val="DCE6EC"/>
            </a:solidFill>
            <a:prstDash val="solid"/>
          </a:ln>
        </p:spPr>
      </p:sp>
      <p:pic>
        <p:nvPicPr>
          <p:cNvPr id="14" name="Image 1" descr="/home/claude/deck/icons/trend_up.png">    </p:cNvPr>
          <p:cNvPicPr>
            <a:picLocks noChangeAspect="1"/>
          </p:cNvPicPr>
          <p:nvPr/>
        </p:nvPicPr>
        <p:blipFill>
          <a:blip r:embed="rId2"/>
          <a:stretch>
            <a:fillRect/>
          </a:stretch>
        </p:blipFill>
        <p:spPr>
          <a:xfrm>
            <a:off x="4389120" y="2286000"/>
            <a:ext cx="502920" cy="502920"/>
          </a:xfrm>
          <a:prstGeom prst="rect">
            <a:avLst/>
          </a:prstGeom>
        </p:spPr>
      </p:pic>
      <p:sp>
        <p:nvSpPr>
          <p:cNvPr id="15" name="Text 11"/>
          <p:cNvSpPr txBox="1"/>
          <p:nvPr/>
        </p:nvSpPr>
        <p:spPr>
          <a:xfrm>
            <a:off x="5029200" y="2313432"/>
            <a:ext cx="251460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Order volume</a:t>
            </a:r>
            <a:endParaRPr lang="en-US" sz="1400" dirty="0"/>
          </a:p>
        </p:txBody>
      </p:sp>
      <p:sp>
        <p:nvSpPr>
          <p:cNvPr id="16" name="Text 12"/>
          <p:cNvSpPr txBox="1"/>
          <p:nvPr/>
        </p:nvSpPr>
        <p:spPr>
          <a:xfrm>
            <a:off x="5029200" y="2624328"/>
            <a:ext cx="251460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Rising steadily</a:t>
            </a:r>
            <a:endParaRPr lang="en-US" sz="1100" dirty="0"/>
          </a:p>
        </p:txBody>
      </p:sp>
      <p:sp>
        <p:nvSpPr>
          <p:cNvPr id="17" name="Text 13"/>
          <p:cNvSpPr txBox="1"/>
          <p:nvPr/>
        </p:nvSpPr>
        <p:spPr>
          <a:xfrm>
            <a:off x="4389120" y="297180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5A6472"/>
                </a:solidFill>
                <a:latin typeface="Calibri" pitchFamily="34" charset="0"/>
                <a:ea typeface="Calibri" pitchFamily="34" charset="-122"/>
                <a:cs typeface="Calibri" pitchFamily="34" charset="-120"/>
              </a:rPr>
              <a:t>Purchases expanded through the period, consistent with Olist onboarding more sellers and reaching more regions of Brazil.</a:t>
            </a:r>
            <a:endParaRPr lang="en-US" sz="1100" dirty="0"/>
          </a:p>
        </p:txBody>
      </p:sp>
      <p:sp>
        <p:nvSpPr>
          <p:cNvPr id="18" name="Shape 14"/>
          <p:cNvSpPr/>
          <p:nvPr/>
        </p:nvSpPr>
        <p:spPr>
          <a:xfrm>
            <a:off x="4160520" y="4160520"/>
            <a:ext cx="3520440" cy="1874520"/>
          </a:xfrm>
          <a:prstGeom prst="roundRect">
            <a:avLst>
              <a:gd name="adj" fmla="val 3902"/>
            </a:avLst>
          </a:prstGeom>
          <a:solidFill>
            <a:srgbClr val="FFFFFF"/>
          </a:solidFill>
          <a:ln w="12700">
            <a:solidFill>
              <a:srgbClr val="DCE6EC"/>
            </a:solidFill>
            <a:prstDash val="solid"/>
          </a:ln>
        </p:spPr>
      </p:sp>
      <p:pic>
        <p:nvPicPr>
          <p:cNvPr id="19" name="Image 2" descr="/home/claude/deck/icons/trend_flat.png">    </p:cNvPr>
          <p:cNvPicPr>
            <a:picLocks noChangeAspect="1"/>
          </p:cNvPicPr>
          <p:nvPr/>
        </p:nvPicPr>
        <p:blipFill>
          <a:blip r:embed="rId3"/>
          <a:stretch>
            <a:fillRect/>
          </a:stretch>
        </p:blipFill>
        <p:spPr>
          <a:xfrm>
            <a:off x="4389120" y="4389120"/>
            <a:ext cx="502920" cy="502920"/>
          </a:xfrm>
          <a:prstGeom prst="rect">
            <a:avLst/>
          </a:prstGeom>
        </p:spPr>
      </p:pic>
      <p:sp>
        <p:nvSpPr>
          <p:cNvPr id="20" name="Text 15"/>
          <p:cNvSpPr txBox="1"/>
          <p:nvPr/>
        </p:nvSpPr>
        <p:spPr>
          <a:xfrm>
            <a:off x="5029200" y="4416552"/>
            <a:ext cx="251460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Average review score</a:t>
            </a:r>
            <a:endParaRPr lang="en-US" sz="1400" dirty="0"/>
          </a:p>
        </p:txBody>
      </p:sp>
      <p:sp>
        <p:nvSpPr>
          <p:cNvPr id="21" name="Text 16"/>
          <p:cNvSpPr txBox="1"/>
          <p:nvPr/>
        </p:nvSpPr>
        <p:spPr>
          <a:xfrm>
            <a:off x="5029200" y="4727448"/>
            <a:ext cx="2514600" cy="274320"/>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Not scaling with volume</a:t>
            </a:r>
            <a:endParaRPr lang="en-US" sz="1100" dirty="0"/>
          </a:p>
        </p:txBody>
      </p:sp>
      <p:sp>
        <p:nvSpPr>
          <p:cNvPr id="22" name="Text 17"/>
          <p:cNvSpPr txBox="1"/>
          <p:nvPr/>
        </p:nvSpPr>
        <p:spPr>
          <a:xfrm>
            <a:off x="4389120" y="5074920"/>
            <a:ext cx="3063240" cy="868680"/>
          </a:xfrm>
          <a:prstGeom prst="rect">
            <a:avLst/>
          </a:prstGeom>
          <a:noFill/>
          <a:ln/>
        </p:spPr>
        <p:txBody>
          <a:bodyPr wrap="square" lIns="0" tIns="0" rIns="0" bIns="0" rtlCol="0" anchor="ctr"/>
          <a:lstStyle/>
          <a:p>
            <a:pPr indent="0" marL="0">
              <a:lnSpc>
                <a:spcPct val="115000"/>
              </a:lnSpc>
              <a:buNone/>
            </a:pPr>
            <a:r>
              <a:rPr lang="en-US" sz="1100" dirty="0">
                <a:solidFill>
                  <a:srgbClr val="5A6472"/>
                </a:solidFill>
                <a:latin typeface="Calibri" pitchFamily="34" charset="0"/>
                <a:ea typeface="Calibri" pitchFamily="34" charset="-122"/>
                <a:cs typeface="Calibri" pitchFamily="34" charset="-120"/>
              </a:rPr>
              <a:t>Satisfaction held closer to flat, and dipped in periods that line up with slower deliveries, the link explored in the next slide.</a:t>
            </a:r>
            <a:endParaRPr lang="en-US" sz="1100" dirty="0"/>
          </a:p>
        </p:txBody>
      </p:sp>
      <p:sp>
        <p:nvSpPr>
          <p:cNvPr id="23" name="Shape 18"/>
          <p:cNvSpPr/>
          <p:nvPr/>
        </p:nvSpPr>
        <p:spPr>
          <a:xfrm>
            <a:off x="8001000" y="2057400"/>
            <a:ext cx="3611880" cy="1874520"/>
          </a:xfrm>
          <a:prstGeom prst="roundRect">
            <a:avLst>
              <a:gd name="adj" fmla="val 3902"/>
            </a:avLst>
          </a:prstGeom>
          <a:solidFill>
            <a:srgbClr val="1C7293"/>
          </a:solidFill>
          <a:ln/>
        </p:spPr>
      </p:sp>
      <p:sp>
        <p:nvSpPr>
          <p:cNvPr id="24" name="Text 19"/>
          <p:cNvSpPr txBox="1"/>
          <p:nvPr/>
        </p:nvSpPr>
        <p:spPr>
          <a:xfrm>
            <a:off x="8275320" y="2212848"/>
            <a:ext cx="3063240" cy="274320"/>
          </a:xfrm>
          <a:prstGeom prst="rect">
            <a:avLst/>
          </a:prstGeom>
          <a:noFill/>
          <a:ln/>
        </p:spPr>
        <p:txBody>
          <a:bodyPr wrap="square" lIns="0" tIns="0" rIns="0" bIns="0" rtlCol="0" anchor="ctr"/>
          <a:lstStyle/>
          <a:p>
            <a:pPr indent="0" marL="0">
              <a:buNone/>
            </a:pPr>
            <a:r>
              <a:rPr lang="en-US" sz="1050" b="1" spc="150" kern="0" dirty="0">
                <a:solidFill>
                  <a:srgbClr val="DCEEF3"/>
                </a:solidFill>
                <a:latin typeface="Calibri" pitchFamily="34" charset="0"/>
                <a:ea typeface="Calibri" pitchFamily="34" charset="-122"/>
                <a:cs typeface="Calibri" pitchFamily="34" charset="-120"/>
              </a:rPr>
              <a:t>WHY THIS MATTERS</a:t>
            </a:r>
            <a:endParaRPr lang="en-US" sz="1050" dirty="0"/>
          </a:p>
        </p:txBody>
      </p:sp>
      <p:sp>
        <p:nvSpPr>
          <p:cNvPr id="25" name="Text 20"/>
          <p:cNvSpPr txBox="1"/>
          <p:nvPr/>
        </p:nvSpPr>
        <p:spPr>
          <a:xfrm>
            <a:off x="8275320" y="2542032"/>
            <a:ext cx="3063240" cy="123444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Volume growth is a vanity signal if it is not paired with satisfaction. Olist should report both metrics side by side, not order count alone, when judging marketplace health.</a:t>
            </a:r>
            <a:endParaRPr lang="en-US" sz="1250" dirty="0"/>
          </a:p>
        </p:txBody>
      </p:sp>
      <p:sp>
        <p:nvSpPr>
          <p:cNvPr id="26" name="Shape 21"/>
          <p:cNvSpPr/>
          <p:nvPr/>
        </p:nvSpPr>
        <p:spPr>
          <a:xfrm>
            <a:off x="8001000" y="4160520"/>
            <a:ext cx="3611880" cy="1828800"/>
          </a:xfrm>
          <a:prstGeom prst="roundRect">
            <a:avLst>
              <a:gd name="adj" fmla="val 4000"/>
            </a:avLst>
          </a:prstGeom>
          <a:solidFill>
            <a:srgbClr val="FFFFFF"/>
          </a:solidFill>
          <a:ln w="12700">
            <a:solidFill>
              <a:srgbClr val="DCE6EC"/>
            </a:solidFill>
            <a:prstDash val="solid"/>
          </a:ln>
        </p:spPr>
      </p:sp>
      <p:pic>
        <p:nvPicPr>
          <p:cNvPr id="27" name="Image 3" descr="/home/claude/deck/icons/info_muted.png">    </p:cNvPr>
          <p:cNvPicPr>
            <a:picLocks noChangeAspect="1"/>
          </p:cNvPicPr>
          <p:nvPr/>
        </p:nvPicPr>
        <p:blipFill>
          <a:blip r:embed="rId4"/>
          <a:stretch>
            <a:fillRect/>
          </a:stretch>
        </p:blipFill>
        <p:spPr>
          <a:xfrm>
            <a:off x="8229600" y="4343400"/>
            <a:ext cx="365760" cy="365760"/>
          </a:xfrm>
          <a:prstGeom prst="rect">
            <a:avLst/>
          </a:prstGeom>
        </p:spPr>
      </p:pic>
      <p:sp>
        <p:nvSpPr>
          <p:cNvPr id="28" name="Text 22"/>
          <p:cNvSpPr txBox="1"/>
          <p:nvPr/>
        </p:nvSpPr>
        <p:spPr>
          <a:xfrm>
            <a:off x="8732520" y="4370832"/>
            <a:ext cx="265176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Analysis note</a:t>
            </a:r>
            <a:endParaRPr lang="en-US" sz="1200" dirty="0"/>
          </a:p>
        </p:txBody>
      </p:sp>
      <p:sp>
        <p:nvSpPr>
          <p:cNvPr id="29" name="Text 23"/>
          <p:cNvSpPr txBox="1"/>
          <p:nvPr/>
        </p:nvSpPr>
        <p:spPr>
          <a:xfrm>
            <a:off x="8229600" y="4754880"/>
            <a:ext cx="3154680" cy="1188720"/>
          </a:xfrm>
          <a:prstGeom prst="rect">
            <a:avLst/>
          </a:prstGeom>
          <a:noFill/>
          <a:ln/>
        </p:spPr>
        <p:txBody>
          <a:bodyPr wrap="square" lIns="0" tIns="0" rIns="0" bIns="0" rtlCol="0" anchor="ctr"/>
          <a:lstStyle/>
          <a:p>
            <a:pPr indent="0" marL="0">
              <a:lnSpc>
                <a:spcPct val="115000"/>
              </a:lnSpc>
              <a:buNone/>
            </a:pPr>
            <a:r>
              <a:rPr lang="en-US" sz="1050" i="1" dirty="0">
                <a:solidFill>
                  <a:srgbClr val="5A6472"/>
                </a:solidFill>
                <a:latin typeface="Calibri" pitchFamily="34" charset="0"/>
                <a:ea typeface="Calibri" pitchFamily="34" charset="-122"/>
                <a:cs typeface="Calibri" pitchFamily="34" charset="-120"/>
              </a:rPr>
              <a:t>This slide reports the directional pattern confirmed in the underlying analysis. A month-by-month order, revenue, and review chart is the recommended next export from the Colab notebook to replace this summary with exact series.</a:t>
            </a:r>
            <a:endParaRPr lang="en-US" sz="1050" dirty="0"/>
          </a:p>
        </p:txBody>
      </p:sp>
      <p:sp>
        <p:nvSpPr>
          <p:cNvPr id="30" name="Text 24"/>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Olist Brazilian E-Commerce Public Dataset (Kaggle release, orders 2016 to 2018); author analysis, Google Colab, 2026.</a:t>
            </a:r>
            <a:endParaRPr lang="en-US" sz="850" dirty="0"/>
          </a:p>
        </p:txBody>
      </p:sp>
      <p:sp>
        <p:nvSpPr>
          <p:cNvPr id="31" name="Text 25"/>
          <p:cNvSpPr txBox="1"/>
          <p:nvPr/>
        </p:nvSpPr>
        <p:spPr>
          <a:xfrm>
            <a:off x="11521440"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B"/>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E0A93E"/>
                </a:solidFill>
                <a:latin typeface="Calibri" pitchFamily="34" charset="0"/>
                <a:ea typeface="Calibri" pitchFamily="34" charset="-122"/>
                <a:cs typeface="Calibri" pitchFamily="34" charset="-120"/>
              </a:rPr>
              <a:t>CORE QUESTION 2 AND 6 · THE HERO FINDING</a:t>
            </a:r>
            <a:endParaRPr lang="en-US" sz="1250" dirty="0"/>
          </a:p>
        </p:txBody>
      </p:sp>
      <p:sp>
        <p:nvSpPr>
          <p:cNvPr id="3" name="Text 1"/>
          <p:cNvSpPr txBox="1"/>
          <p:nvPr/>
        </p:nvSpPr>
        <p:spPr>
          <a:xfrm>
            <a:off x="548640" y="685800"/>
            <a:ext cx="11064240" cy="640080"/>
          </a:xfrm>
          <a:prstGeom prst="rect">
            <a:avLst/>
          </a:prstGeom>
          <a:noFill/>
          <a:ln/>
        </p:spPr>
        <p:txBody>
          <a:bodyPr wrap="square" lIns="0" tIns="0" rIns="0" bIns="0"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Late Delivery Is the Strongest Driver of Low Reviews</a:t>
            </a:r>
            <a:endParaRPr lang="en-US" sz="2600" dirty="0"/>
          </a:p>
        </p:txBody>
      </p:sp>
      <p:sp>
        <p:nvSpPr>
          <p:cNvPr id="4" name="Text 2"/>
          <p:cNvSpPr txBox="1"/>
          <p:nvPr/>
        </p:nvSpPr>
        <p:spPr>
          <a:xfrm>
            <a:off x="548640" y="1298448"/>
            <a:ext cx="6949440" cy="914400"/>
          </a:xfrm>
          <a:prstGeom prst="rect">
            <a:avLst/>
          </a:prstGeom>
          <a:noFill/>
          <a:ln/>
        </p:spPr>
        <p:txBody>
          <a:bodyPr wrap="square" lIns="0" tIns="0" rIns="0" bIns="0" rtlCol="0" anchor="ctr"/>
          <a:lstStyle/>
          <a:p>
            <a:pPr indent="0" marL="0">
              <a:lnSpc>
                <a:spcPct val="115000"/>
              </a:lnSpc>
              <a:buNone/>
            </a:pPr>
            <a:r>
              <a:rPr lang="en-US" sz="1300" dirty="0">
                <a:solidFill>
                  <a:srgbClr val="5A6472"/>
                </a:solidFill>
                <a:latin typeface="Calibri" pitchFamily="34" charset="0"/>
                <a:ea typeface="Calibri" pitchFamily="34" charset="-122"/>
                <a:cs typeface="Calibri" pitchFamily="34" charset="-120"/>
              </a:rPr>
              <a:t>Average review score falls in near lockstep with how late an order arrives relative to the estimate Olist gave the customer. Orders delivered well ahead of schedule average above 4.3, while orders delivered a week or more late average below 1.8.</a:t>
            </a:r>
            <a:endParaRPr lang="en-US" sz="1300" dirty="0"/>
          </a:p>
        </p:txBody>
      </p:sp>
      <p:graphicFrame>
        <p:nvGraphicFramePr>
          <p:cNvPr id="5" name="Chart 0" descr=""/>
          <p:cNvGraphicFramePr/>
          <p:nvPr/>
        </p:nvGraphicFramePr>
        <p:xfrm>
          <a:off x="548640" y="2331720"/>
          <a:ext cx="6949440" cy="37033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331720"/>
            <a:ext cx="3840480" cy="1600200"/>
          </a:xfrm>
          <a:prstGeom prst="roundRect">
            <a:avLst>
              <a:gd name="adj" fmla="val 4571"/>
            </a:avLst>
          </a:prstGeom>
          <a:solidFill>
            <a:srgbClr val="21295C"/>
          </a:solidFill>
          <a:ln/>
        </p:spPr>
      </p:sp>
      <p:sp>
        <p:nvSpPr>
          <p:cNvPr id="7" name="Text 4"/>
          <p:cNvSpPr txBox="1"/>
          <p:nvPr/>
        </p:nvSpPr>
        <p:spPr>
          <a:xfrm>
            <a:off x="8046720" y="2487168"/>
            <a:ext cx="32918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 = -0.269</a:t>
            </a:r>
            <a:endParaRPr lang="en-US" sz="3200" dirty="0"/>
          </a:p>
        </p:txBody>
      </p:sp>
      <p:sp>
        <p:nvSpPr>
          <p:cNvPr id="8" name="Text 5"/>
          <p:cNvSpPr txBox="1"/>
          <p:nvPr/>
        </p:nvSpPr>
        <p:spPr>
          <a:xfrm>
            <a:off x="8046720" y="3108960"/>
            <a:ext cx="3291840" cy="731520"/>
          </a:xfrm>
          <a:prstGeom prst="rect">
            <a:avLst/>
          </a:prstGeom>
          <a:noFill/>
          <a:ln/>
        </p:spPr>
        <p:txBody>
          <a:bodyPr wrap="square" lIns="0" tIns="0" rIns="0" bIns="0" rtlCol="0" anchor="ctr"/>
          <a:lstStyle/>
          <a:p>
            <a:pPr indent="0" marL="0">
              <a:lnSpc>
                <a:spcPct val="115000"/>
              </a:lnSpc>
              <a:buNone/>
            </a:pPr>
            <a:r>
              <a:rPr lang="en-US" sz="1150" dirty="0">
                <a:solidFill>
                  <a:srgbClr val="CFE4EF"/>
                </a:solidFill>
                <a:latin typeface="Calibri" pitchFamily="34" charset="0"/>
                <a:ea typeface="Calibri" pitchFamily="34" charset="-122"/>
                <a:cs typeface="Calibri" pitchFamily="34" charset="-120"/>
              </a:rPr>
              <a:t>Correlation between delivery delay and review score</a:t>
            </a:r>
            <a:endParaRPr lang="en-US" sz="1150" dirty="0"/>
          </a:p>
        </p:txBody>
      </p:sp>
      <p:sp>
        <p:nvSpPr>
          <p:cNvPr id="9" name="Shape 6"/>
          <p:cNvSpPr/>
          <p:nvPr/>
        </p:nvSpPr>
        <p:spPr>
          <a:xfrm>
            <a:off x="7772400" y="4069080"/>
            <a:ext cx="3840480" cy="1965960"/>
          </a:xfrm>
          <a:prstGeom prst="roundRect">
            <a:avLst>
              <a:gd name="adj" fmla="val 3721"/>
            </a:avLst>
          </a:prstGeom>
          <a:solidFill>
            <a:srgbClr val="FFFFFF"/>
          </a:solidFill>
          <a:ln w="12700">
            <a:solidFill>
              <a:srgbClr val="DCE6EC"/>
            </a:solidFill>
            <a:prstDash val="solid"/>
          </a:ln>
        </p:spPr>
      </p:sp>
      <p:pic>
        <p:nvPicPr>
          <p:cNvPr id="10" name="Image 0" descr="/home/claude/deck/icons/info_muted.png">    </p:cNvPr>
          <p:cNvPicPr>
            <a:picLocks noChangeAspect="1"/>
          </p:cNvPicPr>
          <p:nvPr/>
        </p:nvPicPr>
        <p:blipFill>
          <a:blip r:embed="rId2"/>
          <a:stretch>
            <a:fillRect/>
          </a:stretch>
        </p:blipFill>
        <p:spPr>
          <a:xfrm>
            <a:off x="8001000" y="4233672"/>
            <a:ext cx="347472" cy="347472"/>
          </a:xfrm>
          <a:prstGeom prst="rect">
            <a:avLst/>
          </a:prstGeom>
        </p:spPr>
      </p:pic>
      <p:sp>
        <p:nvSpPr>
          <p:cNvPr id="11" name="Text 7"/>
          <p:cNvSpPr txBox="1"/>
          <p:nvPr/>
        </p:nvSpPr>
        <p:spPr>
          <a:xfrm>
            <a:off x="8458200" y="4251960"/>
            <a:ext cx="2926080" cy="32004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Reading this correlation correctly</a:t>
            </a:r>
            <a:endParaRPr lang="en-US" sz="1200" dirty="0"/>
          </a:p>
        </p:txBody>
      </p:sp>
      <p:sp>
        <p:nvSpPr>
          <p:cNvPr id="12" name="Text 8"/>
          <p:cNvSpPr txBox="1"/>
          <p:nvPr/>
        </p:nvSpPr>
        <p:spPr>
          <a:xfrm>
            <a:off x="8001000" y="4617720"/>
            <a:ext cx="3383280" cy="1325880"/>
          </a:xfrm>
          <a:prstGeom prst="rect">
            <a:avLst/>
          </a:prstGeom>
          <a:noFill/>
          <a:ln/>
        </p:spPr>
        <p:txBody>
          <a:bodyPr wrap="square" lIns="0" tIns="0" rIns="0" bIns="0" rtlCol="0" anchor="ctr"/>
          <a:lstStyle/>
          <a:p>
            <a:pPr indent="0" marL="0">
              <a:lnSpc>
                <a:spcPct val="115000"/>
              </a:lnSpc>
              <a:buNone/>
            </a:pPr>
            <a:r>
              <a:rPr lang="en-US" sz="1050" dirty="0">
                <a:solidFill>
                  <a:srgbClr val="5A6472"/>
                </a:solidFill>
                <a:latin typeface="Calibri" pitchFamily="34" charset="0"/>
                <a:ea typeface="Calibri" pitchFamily="34" charset="-122"/>
                <a:cs typeface="Calibri" pitchFamily="34" charset="-120"/>
              </a:rPr>
              <a:t>A coefficient of -0.269 is a moderate, statistically meaningful relationship, not proof that delay is the only cause of a low score. Product quality, communication, and price likely also play a role. A multivariate model that controls for category and price is the recommended next step before treating delivery as a single lever.</a:t>
            </a:r>
            <a:endParaRPr lang="en-US" sz="1050" dirty="0"/>
          </a:p>
        </p:txBody>
      </p:sp>
      <p:sp>
        <p:nvSpPr>
          <p:cNvPr id="13" name="Text 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Olist Brazilian E-Commerce Public Dataset (Kaggle release, orders 2016 to 2018); author analysis, Google Colab, 2026.</a:t>
            </a:r>
            <a:endParaRPr lang="en-US" sz="850" dirty="0"/>
          </a:p>
        </p:txBody>
      </p:sp>
      <p:sp>
        <p:nvSpPr>
          <p:cNvPr id="14" name="Text 10"/>
          <p:cNvSpPr txBox="1"/>
          <p:nvPr/>
        </p:nvSpPr>
        <p:spPr>
          <a:xfrm>
            <a:off x="11521440"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B"/>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CORE QUESTION 4 AND 5 · CATEGORY AND PAYMENT</a:t>
            </a:r>
            <a:endParaRPr lang="en-US" sz="1250" dirty="0"/>
          </a:p>
        </p:txBody>
      </p:sp>
      <p:sp>
        <p:nvSpPr>
          <p:cNvPr id="3" name="Text 1"/>
          <p:cNvSpPr txBox="1"/>
          <p:nvPr/>
        </p:nvSpPr>
        <p:spPr>
          <a:xfrm>
            <a:off x="548640" y="685800"/>
            <a:ext cx="11064240" cy="640080"/>
          </a:xfrm>
          <a:prstGeom prst="rect">
            <a:avLst/>
          </a:prstGeom>
          <a:noFill/>
          <a:ln/>
        </p:spPr>
        <p:txBody>
          <a:bodyPr wrap="square" lIns="0" tIns="0" rIns="0" bIns="0" rtlCol="0" anchor="ctr"/>
          <a:lstStyle/>
          <a:p>
            <a:pPr indent="0" marL="0">
              <a:buNone/>
            </a:pPr>
            <a:r>
              <a:rPr lang="en-US" sz="2500" b="1" dirty="0">
                <a:solidFill>
                  <a:srgbClr val="1A1A1A"/>
                </a:solidFill>
                <a:latin typeface="Cambria" pitchFamily="34" charset="0"/>
                <a:ea typeface="Cambria" pitchFamily="34" charset="-122"/>
                <a:cs typeface="Cambria" pitchFamily="34" charset="-120"/>
              </a:rPr>
              <a:t>Health &amp; Beauty Leads Revenue, Credit Card Leads Payments</a:t>
            </a:r>
            <a:endParaRPr lang="en-US" sz="2500" dirty="0"/>
          </a:p>
        </p:txBody>
      </p:sp>
      <p:sp>
        <p:nvSpPr>
          <p:cNvPr id="4" name="Text 2"/>
          <p:cNvSpPr txBox="1"/>
          <p:nvPr/>
        </p:nvSpPr>
        <p:spPr>
          <a:xfrm>
            <a:off x="548640" y="1298448"/>
            <a:ext cx="11064240" cy="502920"/>
          </a:xfrm>
          <a:prstGeom prst="rect">
            <a:avLst/>
          </a:prstGeom>
          <a:noFill/>
          <a:ln/>
        </p:spPr>
        <p:txBody>
          <a:bodyPr wrap="square" lIns="0" tIns="0" rIns="0" bIns="0" rtlCol="0" anchor="ctr"/>
          <a:lstStyle/>
          <a:p>
            <a:pPr indent="0" marL="0">
              <a:lnSpc>
                <a:spcPct val="115000"/>
              </a:lnSpc>
              <a:buNone/>
            </a:pPr>
            <a:r>
              <a:rPr lang="en-US" sz="1300" dirty="0">
                <a:solidFill>
                  <a:srgbClr val="5A6472"/>
                </a:solidFill>
                <a:latin typeface="Calibri" pitchFamily="34" charset="0"/>
                <a:ea typeface="Calibri" pitchFamily="34" charset="-122"/>
                <a:cs typeface="Calibri" pitchFamily="34" charset="-120"/>
              </a:rPr>
              <a:t>The top five categories concentrate a large share of revenue, and credit card is the default way customers pay on the platform. Both patterns carry follow-on implications for how Olist should monitor risk.</a:t>
            </a:r>
            <a:endParaRPr lang="en-US" sz="1300" dirty="0"/>
          </a:p>
        </p:txBody>
      </p:sp>
      <p:sp>
        <p:nvSpPr>
          <p:cNvPr id="5" name="Text 3"/>
          <p:cNvSpPr txBox="1"/>
          <p:nvPr/>
        </p:nvSpPr>
        <p:spPr>
          <a:xfrm>
            <a:off x="548640" y="1920240"/>
            <a:ext cx="548640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Top Revenue Categories (R$, millions)</a:t>
            </a:r>
            <a:endParaRPr lang="en-US" sz="1300" dirty="0"/>
          </a:p>
        </p:txBody>
      </p:sp>
      <p:graphicFrame>
        <p:nvGraphicFramePr>
          <p:cNvPr id="6" name="Chart 0" descr=""/>
          <p:cNvGraphicFramePr/>
          <p:nvPr/>
        </p:nvGraphicFramePr>
        <p:xfrm>
          <a:off x="457200" y="2240280"/>
          <a:ext cx="5669280" cy="37947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400800" y="1920240"/>
            <a:ext cx="548640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Payment Method Mix (order count)</a:t>
            </a:r>
            <a:endParaRPr lang="en-US" sz="1300" dirty="0"/>
          </a:p>
        </p:txBody>
      </p:sp>
      <p:graphicFrame>
        <p:nvGraphicFramePr>
          <p:cNvPr id="8" name="Chart 1" descr=""/>
          <p:cNvGraphicFramePr/>
          <p:nvPr/>
        </p:nvGraphicFramePr>
        <p:xfrm>
          <a:off x="6309360" y="2240280"/>
          <a:ext cx="5486400" cy="265176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6309360" y="5166360"/>
            <a:ext cx="5486400" cy="868680"/>
          </a:xfrm>
          <a:prstGeom prst="roundRect">
            <a:avLst>
              <a:gd name="adj" fmla="val 8421"/>
            </a:avLst>
          </a:prstGeom>
          <a:solidFill>
            <a:srgbClr val="1C7293"/>
          </a:solidFill>
          <a:ln/>
        </p:spPr>
      </p:sp>
      <p:sp>
        <p:nvSpPr>
          <p:cNvPr id="10" name="Text 6"/>
          <p:cNvSpPr txBox="1"/>
          <p:nvPr/>
        </p:nvSpPr>
        <p:spPr>
          <a:xfrm>
            <a:off x="6492240" y="5230368"/>
            <a:ext cx="5212080" cy="256032"/>
          </a:xfrm>
          <a:prstGeom prst="rect">
            <a:avLst/>
          </a:prstGeom>
          <a:noFill/>
          <a:ln/>
        </p:spPr>
        <p:txBody>
          <a:bodyPr wrap="square" lIns="0" tIns="0" rIns="0" bIns="0" rtlCol="0" anchor="ctr"/>
          <a:lstStyle/>
          <a:p>
            <a:pPr indent="0" marL="0">
              <a:buNone/>
            </a:pPr>
            <a:r>
              <a:rPr lang="en-US" sz="1050" b="1" dirty="0">
                <a:solidFill>
                  <a:srgbClr val="DCEEF3"/>
                </a:solidFill>
                <a:latin typeface="Calibri" pitchFamily="34" charset="0"/>
                <a:ea typeface="Calibri" pitchFamily="34" charset="-122"/>
                <a:cs typeface="Calibri" pitchFamily="34" charset="-120"/>
              </a:rPr>
              <a:t>Hidden gap and next step</a:t>
            </a:r>
            <a:endParaRPr lang="en-US" sz="1050" dirty="0"/>
          </a:p>
        </p:txBody>
      </p:sp>
      <p:sp>
        <p:nvSpPr>
          <p:cNvPr id="11" name="Text 7"/>
          <p:cNvSpPr txBox="1"/>
          <p:nvPr/>
        </p:nvSpPr>
        <p:spPr>
          <a:xfrm>
            <a:off x="6492240" y="5468112"/>
            <a:ext cx="5166360" cy="548640"/>
          </a:xfrm>
          <a:prstGeom prst="rect">
            <a:avLst/>
          </a:prstGeom>
          <a:noFill/>
          <a:ln/>
        </p:spPr>
        <p:txBody>
          <a:bodyPr wrap="square" lIns="0" tIns="0" rIns="0" bIns="0" rtlCol="0" anchor="ctr"/>
          <a:lstStyle/>
          <a:p>
            <a:pPr indent="0" marL="0">
              <a:lnSpc>
                <a:spcPct val="110000"/>
              </a:lnSpc>
              <a:buNone/>
            </a:pPr>
            <a:r>
              <a:rPr lang="en-US" sz="950" dirty="0">
                <a:solidFill>
                  <a:srgbClr val="FFFFFF"/>
                </a:solidFill>
                <a:latin typeface="Calibri" pitchFamily="34" charset="0"/>
                <a:ea typeface="Calibri" pitchFamily="34" charset="-122"/>
                <a:cs typeface="Calibri" pitchFamily="34" charset="-120"/>
              </a:rPr>
              <a:t>Credit card dominance likely reflects Brazil’s common use of installment plans. Olist should track installment count alongside delivery delay, since longer installment terms can compound customer frustration when an order also arrives late.</a:t>
            </a:r>
            <a:endParaRPr lang="en-US" sz="950" dirty="0"/>
          </a:p>
        </p:txBody>
      </p:sp>
      <p:sp>
        <p:nvSpPr>
          <p:cNvPr id="12" name="Text 8"/>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Olist Brazilian E-Commerce Public Dataset (Kaggle release, orders 2016 to 2018); author analysis, Google Colab, 2026.</a:t>
            </a:r>
            <a:endParaRPr lang="en-US" sz="850" dirty="0"/>
          </a:p>
        </p:txBody>
      </p:sp>
      <p:sp>
        <p:nvSpPr>
          <p:cNvPr id="13" name="Text 9"/>
          <p:cNvSpPr txBox="1"/>
          <p:nvPr/>
        </p:nvSpPr>
        <p:spPr>
          <a:xfrm>
            <a:off x="11521440"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B"/>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CORE QUESTION 3 AND 6 · GEOGRAPHY AND ROOT CAUSE</a:t>
            </a:r>
            <a:endParaRPr lang="en-US" sz="1250" dirty="0"/>
          </a:p>
        </p:txBody>
      </p:sp>
      <p:sp>
        <p:nvSpPr>
          <p:cNvPr id="3" name="Text 1"/>
          <p:cNvSpPr txBox="1"/>
          <p:nvPr/>
        </p:nvSpPr>
        <p:spPr>
          <a:xfrm>
            <a:off x="548640" y="685800"/>
            <a:ext cx="11064240" cy="640080"/>
          </a:xfrm>
          <a:prstGeom prst="rect">
            <a:avLst/>
          </a:prstGeom>
          <a:noFill/>
          <a:ln/>
        </p:spPr>
        <p:txBody>
          <a:bodyPr wrap="square" lIns="0" tIns="0" rIns="0" bIns="0" rtlCol="0" anchor="ctr"/>
          <a:lstStyle/>
          <a:p>
            <a:pPr indent="0" marL="0">
              <a:buNone/>
            </a:pPr>
            <a:r>
              <a:rPr lang="en-US" sz="2500" b="1" dirty="0">
                <a:solidFill>
                  <a:srgbClr val="1A1A1A"/>
                </a:solidFill>
                <a:latin typeface="Cambria" pitchFamily="34" charset="0"/>
                <a:ea typeface="Cambria" pitchFamily="34" charset="-122"/>
                <a:cs typeface="Cambria" pitchFamily="34" charset="-120"/>
              </a:rPr>
              <a:t>Delivery Performance Is the Clearest Path to Low Reviews</a:t>
            </a:r>
            <a:endParaRPr lang="en-US" sz="2500" dirty="0"/>
          </a:p>
        </p:txBody>
      </p:sp>
      <p:sp>
        <p:nvSpPr>
          <p:cNvPr id="4" name="Text 2"/>
          <p:cNvSpPr txBox="1"/>
          <p:nvPr/>
        </p:nvSpPr>
        <p:spPr>
          <a:xfrm>
            <a:off x="548640" y="1298448"/>
            <a:ext cx="11064240" cy="502920"/>
          </a:xfrm>
          <a:prstGeom prst="rect">
            <a:avLst/>
          </a:prstGeom>
          <a:noFill/>
          <a:ln/>
        </p:spPr>
        <p:txBody>
          <a:bodyPr wrap="square" lIns="0" tIns="0" rIns="0" bIns="0" rtlCol="0" anchor="ctr"/>
          <a:lstStyle/>
          <a:p>
            <a:pPr indent="0" marL="0">
              <a:lnSpc>
                <a:spcPct val="115000"/>
              </a:lnSpc>
              <a:buNone/>
            </a:pPr>
            <a:r>
              <a:rPr lang="en-US" sz="1300" dirty="0">
                <a:solidFill>
                  <a:srgbClr val="5A6472"/>
                </a:solidFill>
                <a:latin typeface="Calibri" pitchFamily="34" charset="0"/>
                <a:ea typeface="Calibri" pitchFamily="34" charset="-122"/>
                <a:cs typeface="Calibri" pitchFamily="34" charset="-120"/>
              </a:rPr>
              <a:t>Of every factor examined across marketplace performance, category, payment, and geography, delivery timing shows the strongest and most consistent link to how customers rate their orders.</a:t>
            </a:r>
            <a:endParaRPr lang="en-US" sz="1300" dirty="0"/>
          </a:p>
        </p:txBody>
      </p:sp>
      <p:sp>
        <p:nvSpPr>
          <p:cNvPr id="5" name="Shape 3"/>
          <p:cNvSpPr/>
          <p:nvPr/>
        </p:nvSpPr>
        <p:spPr>
          <a:xfrm>
            <a:off x="548640" y="2011680"/>
            <a:ext cx="5486400" cy="4023360"/>
          </a:xfrm>
          <a:prstGeom prst="roundRect">
            <a:avLst>
              <a:gd name="adj" fmla="val 1818"/>
            </a:avLst>
          </a:prstGeom>
          <a:solidFill>
            <a:srgbClr val="FFFFFF"/>
          </a:solidFill>
          <a:ln w="12700">
            <a:solidFill>
              <a:srgbClr val="DCE6EC"/>
            </a:solidFill>
            <a:prstDash val="solid"/>
          </a:ln>
        </p:spPr>
      </p:sp>
      <p:pic>
        <p:nvPicPr>
          <p:cNvPr id="6" name="Image 0" descr="/home/claude/deck/icons/map_navy.png">    </p:cNvPr>
          <p:cNvPicPr>
            <a:picLocks noChangeAspect="1"/>
          </p:cNvPicPr>
          <p:nvPr/>
        </p:nvPicPr>
        <p:blipFill>
          <a:blip r:embed="rId1"/>
          <a:stretch>
            <a:fillRect/>
          </a:stretch>
        </p:blipFill>
        <p:spPr>
          <a:xfrm>
            <a:off x="822960" y="2194560"/>
            <a:ext cx="384048" cy="384048"/>
          </a:xfrm>
          <a:prstGeom prst="rect">
            <a:avLst/>
          </a:prstGeom>
        </p:spPr>
      </p:pic>
      <p:sp>
        <p:nvSpPr>
          <p:cNvPr id="7" name="Text 4"/>
          <p:cNvSpPr txBox="1"/>
          <p:nvPr/>
        </p:nvSpPr>
        <p:spPr>
          <a:xfrm>
            <a:off x="1325880" y="2240280"/>
            <a:ext cx="448056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 Framework for Geographic Prioritization</a:t>
            </a:r>
            <a:endParaRPr lang="en-US" sz="1400" dirty="0"/>
          </a:p>
        </p:txBody>
      </p:sp>
      <p:sp>
        <p:nvSpPr>
          <p:cNvPr id="8" name="Text 5"/>
          <p:cNvSpPr txBox="1"/>
          <p:nvPr/>
        </p:nvSpPr>
        <p:spPr>
          <a:xfrm>
            <a:off x="822960" y="2651760"/>
            <a:ext cx="4937760" cy="365760"/>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Rank each state on three criteria to find where Olist should act first:</a:t>
            </a:r>
            <a:endParaRPr lang="en-US" sz="1150" dirty="0"/>
          </a:p>
        </p:txBody>
      </p:sp>
      <p:sp>
        <p:nvSpPr>
          <p:cNvPr id="9" name="Shape 6"/>
          <p:cNvSpPr/>
          <p:nvPr/>
        </p:nvSpPr>
        <p:spPr>
          <a:xfrm>
            <a:off x="822960" y="3200400"/>
            <a:ext cx="384048" cy="384048"/>
          </a:xfrm>
          <a:prstGeom prst="roundRect">
            <a:avLst>
              <a:gd name="adj" fmla="val 50000"/>
            </a:avLst>
          </a:prstGeom>
          <a:solidFill>
            <a:srgbClr val="065A82"/>
          </a:solidFill>
          <a:ln/>
        </p:spPr>
      </p:sp>
      <p:sp>
        <p:nvSpPr>
          <p:cNvPr id="10" name="Text 7"/>
          <p:cNvSpPr txBox="1"/>
          <p:nvPr/>
        </p:nvSpPr>
        <p:spPr>
          <a:xfrm>
            <a:off x="82296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371600" y="3172968"/>
            <a:ext cx="43891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Order volume</a:t>
            </a:r>
            <a:endParaRPr lang="en-US" sz="1250" dirty="0"/>
          </a:p>
        </p:txBody>
      </p:sp>
      <p:sp>
        <p:nvSpPr>
          <p:cNvPr id="12" name="Text 9"/>
          <p:cNvSpPr txBox="1"/>
          <p:nvPr/>
        </p:nvSpPr>
        <p:spPr>
          <a:xfrm>
            <a:off x="1371600" y="3456432"/>
            <a:ext cx="4389120" cy="41148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Where impact of any fix reaches the most customers</a:t>
            </a:r>
            <a:endParaRPr lang="en-US" sz="1050" dirty="0"/>
          </a:p>
        </p:txBody>
      </p:sp>
      <p:sp>
        <p:nvSpPr>
          <p:cNvPr id="13" name="Shape 10"/>
          <p:cNvSpPr/>
          <p:nvPr/>
        </p:nvSpPr>
        <p:spPr>
          <a:xfrm>
            <a:off x="822960" y="3977640"/>
            <a:ext cx="384048" cy="384048"/>
          </a:xfrm>
          <a:prstGeom prst="roundRect">
            <a:avLst>
              <a:gd name="adj" fmla="val 50000"/>
            </a:avLst>
          </a:prstGeom>
          <a:solidFill>
            <a:srgbClr val="065A82"/>
          </a:solidFill>
          <a:ln/>
        </p:spPr>
      </p:sp>
      <p:sp>
        <p:nvSpPr>
          <p:cNvPr id="14" name="Text 11"/>
          <p:cNvSpPr txBox="1"/>
          <p:nvPr/>
        </p:nvSpPr>
        <p:spPr>
          <a:xfrm>
            <a:off x="822960" y="3977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1371600" y="3950208"/>
            <a:ext cx="43891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Average review score</a:t>
            </a:r>
            <a:endParaRPr lang="en-US" sz="1250" dirty="0"/>
          </a:p>
        </p:txBody>
      </p:sp>
      <p:sp>
        <p:nvSpPr>
          <p:cNvPr id="16" name="Text 13"/>
          <p:cNvSpPr txBox="1"/>
          <p:nvPr/>
        </p:nvSpPr>
        <p:spPr>
          <a:xfrm>
            <a:off x="1371600" y="4233672"/>
            <a:ext cx="4389120" cy="41148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Where satisfaction already lags the marketplace average</a:t>
            </a:r>
            <a:endParaRPr lang="en-US" sz="1050" dirty="0"/>
          </a:p>
        </p:txBody>
      </p:sp>
      <p:sp>
        <p:nvSpPr>
          <p:cNvPr id="17" name="Shape 14"/>
          <p:cNvSpPr/>
          <p:nvPr/>
        </p:nvSpPr>
        <p:spPr>
          <a:xfrm>
            <a:off x="822960" y="4754880"/>
            <a:ext cx="384048" cy="384048"/>
          </a:xfrm>
          <a:prstGeom prst="roundRect">
            <a:avLst>
              <a:gd name="adj" fmla="val 50000"/>
            </a:avLst>
          </a:prstGeom>
          <a:solidFill>
            <a:srgbClr val="065A82"/>
          </a:solidFill>
          <a:ln/>
        </p:spPr>
      </p:sp>
      <p:sp>
        <p:nvSpPr>
          <p:cNvPr id="18" name="Text 15"/>
          <p:cNvSpPr txBox="1"/>
          <p:nvPr/>
        </p:nvSpPr>
        <p:spPr>
          <a:xfrm>
            <a:off x="822960" y="4754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371600" y="4727448"/>
            <a:ext cx="43891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Late-order percentage</a:t>
            </a:r>
            <a:endParaRPr lang="en-US" sz="1250" dirty="0"/>
          </a:p>
        </p:txBody>
      </p:sp>
      <p:sp>
        <p:nvSpPr>
          <p:cNvPr id="20" name="Text 17"/>
          <p:cNvSpPr txBox="1"/>
          <p:nvPr/>
        </p:nvSpPr>
        <p:spPr>
          <a:xfrm>
            <a:off x="1371600" y="5010912"/>
            <a:ext cx="4389120" cy="41148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Where delivery reliability is breaking down most often</a:t>
            </a:r>
            <a:endParaRPr lang="en-US" sz="1050" dirty="0"/>
          </a:p>
        </p:txBody>
      </p:sp>
      <p:sp>
        <p:nvSpPr>
          <p:cNvPr id="21" name="Shape 18"/>
          <p:cNvSpPr/>
          <p:nvPr/>
        </p:nvSpPr>
        <p:spPr>
          <a:xfrm>
            <a:off x="822960" y="5623560"/>
            <a:ext cx="4937760" cy="0"/>
          </a:xfrm>
          <a:prstGeom prst="line">
            <a:avLst/>
          </a:prstGeom>
          <a:noFill/>
          <a:ln w="12700">
            <a:solidFill>
              <a:srgbClr val="DCE6EC"/>
            </a:solidFill>
            <a:prstDash val="solid"/>
          </a:ln>
        </p:spPr>
      </p:sp>
      <p:sp>
        <p:nvSpPr>
          <p:cNvPr id="22" name="Text 19"/>
          <p:cNvSpPr txBox="1"/>
          <p:nvPr/>
        </p:nvSpPr>
        <p:spPr>
          <a:xfrm>
            <a:off x="822960" y="5715000"/>
            <a:ext cx="4937760" cy="502920"/>
          </a:xfrm>
          <a:prstGeom prst="rect">
            <a:avLst/>
          </a:prstGeom>
          <a:noFill/>
          <a:ln/>
        </p:spPr>
        <p:txBody>
          <a:bodyPr wrap="square" lIns="0" tIns="0" rIns="0" bIns="0" rtlCol="0" anchor="ctr"/>
          <a:lstStyle/>
          <a:p>
            <a:pPr indent="0" marL="0">
              <a:lnSpc>
                <a:spcPct val="110000"/>
              </a:lnSpc>
              <a:buNone/>
            </a:pPr>
            <a:r>
              <a:rPr lang="en-US" sz="1000" i="1" dirty="0">
                <a:solidFill>
                  <a:srgbClr val="5A6472"/>
                </a:solidFill>
                <a:latin typeface="Calibri" pitchFamily="34" charset="0"/>
                <a:ea typeface="Calibri" pitchFamily="34" charset="-122"/>
                <a:cs typeface="Calibri" pitchFamily="34" charset="-120"/>
              </a:rPr>
              <a:t>States that score high on all three criteria are the clearest candidates for a targeted logistics review. A state-by-state cut using this framework is the direct next export from the current analysis.</a:t>
            </a:r>
            <a:endParaRPr lang="en-US" sz="1000" dirty="0"/>
          </a:p>
        </p:txBody>
      </p:sp>
      <p:sp>
        <p:nvSpPr>
          <p:cNvPr id="23" name="Shape 20"/>
          <p:cNvSpPr/>
          <p:nvPr/>
        </p:nvSpPr>
        <p:spPr>
          <a:xfrm>
            <a:off x="6400800" y="2011680"/>
            <a:ext cx="5257800" cy="4023360"/>
          </a:xfrm>
          <a:prstGeom prst="roundRect">
            <a:avLst>
              <a:gd name="adj" fmla="val 1818"/>
            </a:avLst>
          </a:prstGeom>
          <a:solidFill>
            <a:srgbClr val="21295C"/>
          </a:solidFill>
          <a:ln/>
        </p:spPr>
      </p:sp>
      <p:sp>
        <p:nvSpPr>
          <p:cNvPr id="24" name="Text 21"/>
          <p:cNvSpPr txBox="1"/>
          <p:nvPr/>
        </p:nvSpPr>
        <p:spPr>
          <a:xfrm>
            <a:off x="6720840" y="2240280"/>
            <a:ext cx="4617720" cy="274320"/>
          </a:xfrm>
          <a:prstGeom prst="rect">
            <a:avLst/>
          </a:prstGeom>
          <a:noFill/>
          <a:ln/>
        </p:spPr>
        <p:txBody>
          <a:bodyPr wrap="square" lIns="0" tIns="0" rIns="0" bIns="0" rtlCol="0" anchor="ctr"/>
          <a:lstStyle/>
          <a:p>
            <a:pPr indent="0" marL="0">
              <a:buNone/>
            </a:pPr>
            <a:r>
              <a:rPr lang="en-US" sz="1100" b="1" spc="200" kern="0" dirty="0">
                <a:solidFill>
                  <a:srgbClr val="9FB6D9"/>
                </a:solidFill>
                <a:latin typeface="Calibri" pitchFamily="34" charset="0"/>
                <a:ea typeface="Calibri" pitchFamily="34" charset="-122"/>
                <a:cs typeface="Calibri" pitchFamily="34" charset="-120"/>
              </a:rPr>
              <a:t>ROOT CAUSE</a:t>
            </a:r>
            <a:endParaRPr lang="en-US" sz="1100" dirty="0"/>
          </a:p>
        </p:txBody>
      </p:sp>
      <p:sp>
        <p:nvSpPr>
          <p:cNvPr id="25" name="Text 22"/>
          <p:cNvSpPr txBox="1"/>
          <p:nvPr/>
        </p:nvSpPr>
        <p:spPr>
          <a:xfrm>
            <a:off x="6720840" y="2560320"/>
            <a:ext cx="4617720" cy="1005840"/>
          </a:xfrm>
          <a:prstGeom prst="rect">
            <a:avLst/>
          </a:prstGeom>
          <a:noFill/>
          <a:ln/>
        </p:spPr>
        <p:txBody>
          <a:bodyPr wrap="square" lIns="0" tIns="0" rIns="0" bIns="0" rtlCol="0" anchor="ctr"/>
          <a:lstStyle/>
          <a:p>
            <a:pPr indent="0" marL="0">
              <a:lnSpc>
                <a:spcPct val="115000"/>
              </a:lnSpc>
              <a:buNone/>
            </a:pPr>
            <a:r>
              <a:rPr lang="en-US" sz="1700" b="1" dirty="0">
                <a:solidFill>
                  <a:srgbClr val="FFFFFF"/>
                </a:solidFill>
                <a:latin typeface="Cambria" pitchFamily="34" charset="0"/>
                <a:ea typeface="Cambria" pitchFamily="34" charset="-122"/>
                <a:cs typeface="Cambria" pitchFamily="34" charset="-120"/>
              </a:rPr>
              <a:t>Delivery reliability, not category or payment method, is the strongest lever Olist has over customer satisfaction.</a:t>
            </a:r>
            <a:endParaRPr lang="en-US" sz="1700" dirty="0"/>
          </a:p>
        </p:txBody>
      </p:sp>
      <p:sp>
        <p:nvSpPr>
          <p:cNvPr id="26" name="Shape 23"/>
          <p:cNvSpPr/>
          <p:nvPr/>
        </p:nvSpPr>
        <p:spPr>
          <a:xfrm>
            <a:off x="6720840" y="3703320"/>
            <a:ext cx="4617720" cy="0"/>
          </a:xfrm>
          <a:prstGeom prst="line">
            <a:avLst/>
          </a:prstGeom>
          <a:noFill/>
          <a:ln w="12700">
            <a:solidFill>
              <a:srgbClr val="3B4780"/>
            </a:solidFill>
            <a:prstDash val="solid"/>
          </a:ln>
        </p:spPr>
      </p:sp>
      <p:sp>
        <p:nvSpPr>
          <p:cNvPr id="27" name="Text 24"/>
          <p:cNvSpPr txBox="1"/>
          <p:nvPr/>
        </p:nvSpPr>
        <p:spPr>
          <a:xfrm>
            <a:off x="6720840" y="3840480"/>
            <a:ext cx="4617720" cy="274320"/>
          </a:xfrm>
          <a:prstGeom prst="rect">
            <a:avLst/>
          </a:prstGeom>
          <a:noFill/>
          <a:ln/>
        </p:spPr>
        <p:txBody>
          <a:bodyPr wrap="square" lIns="0" tIns="0" rIns="0" bIns="0" rtlCol="0" anchor="ctr"/>
          <a:lstStyle/>
          <a:p>
            <a:pPr indent="0" marL="0">
              <a:buNone/>
            </a:pPr>
            <a:r>
              <a:rPr lang="en-US" sz="1200" b="1" dirty="0">
                <a:solidFill>
                  <a:srgbClr val="DCEEF3"/>
                </a:solidFill>
                <a:latin typeface="Calibri" pitchFamily="34" charset="0"/>
                <a:ea typeface="Calibri" pitchFamily="34" charset="-122"/>
                <a:cs typeface="Calibri" pitchFamily="34" charset="-120"/>
              </a:rPr>
              <a:t>Ruled out for now</a:t>
            </a:r>
            <a:endParaRPr lang="en-US" sz="1200" dirty="0"/>
          </a:p>
        </p:txBody>
      </p:sp>
      <p:sp>
        <p:nvSpPr>
          <p:cNvPr id="28" name="Shape 25"/>
          <p:cNvSpPr/>
          <p:nvPr/>
        </p:nvSpPr>
        <p:spPr>
          <a:xfrm>
            <a:off x="6720840" y="4215384"/>
            <a:ext cx="91440" cy="91440"/>
          </a:xfrm>
          <a:prstGeom prst="roundRect">
            <a:avLst>
              <a:gd name="adj" fmla="val 50000"/>
            </a:avLst>
          </a:prstGeom>
          <a:solidFill>
            <a:srgbClr val="E0A93E"/>
          </a:solidFill>
          <a:ln/>
        </p:spPr>
      </p:sp>
      <p:sp>
        <p:nvSpPr>
          <p:cNvPr id="29" name="Text 26"/>
          <p:cNvSpPr txBox="1"/>
          <p:nvPr/>
        </p:nvSpPr>
        <p:spPr>
          <a:xfrm>
            <a:off x="6949440" y="4087368"/>
            <a:ext cx="4389120" cy="868680"/>
          </a:xfrm>
          <a:prstGeom prst="rect">
            <a:avLst/>
          </a:prstGeom>
          <a:noFill/>
          <a:ln/>
        </p:spPr>
        <p:txBody>
          <a:bodyPr wrap="square" lIns="0" tIns="0" rIns="0" bIns="0" rtlCol="0" anchor="ctr"/>
          <a:lstStyle/>
          <a:p>
            <a:pPr indent="0" marL="0">
              <a:lnSpc>
                <a:spcPct val="115000"/>
              </a:lnSpc>
              <a:buNone/>
            </a:pPr>
            <a:r>
              <a:rPr lang="en-US" sz="1050" dirty="0">
                <a:solidFill>
                  <a:srgbClr val="D7E2EE"/>
                </a:solidFill>
                <a:latin typeface="Calibri" pitchFamily="34" charset="0"/>
                <a:ea typeface="Calibri" pitchFamily="34" charset="-122"/>
                <a:cs typeface="Calibri" pitchFamily="34" charset="-120"/>
              </a:rPr>
              <a:t>A formal predictive model (for example logistic regression) has not yet been run on this dataset, so no model-based ranking of causes is claimed here.</a:t>
            </a:r>
            <a:endParaRPr lang="en-US" sz="1050" dirty="0"/>
          </a:p>
        </p:txBody>
      </p:sp>
      <p:sp>
        <p:nvSpPr>
          <p:cNvPr id="30" name="Shape 27"/>
          <p:cNvSpPr/>
          <p:nvPr/>
        </p:nvSpPr>
        <p:spPr>
          <a:xfrm>
            <a:off x="6720840" y="5084064"/>
            <a:ext cx="91440" cy="91440"/>
          </a:xfrm>
          <a:prstGeom prst="roundRect">
            <a:avLst>
              <a:gd name="adj" fmla="val 50000"/>
            </a:avLst>
          </a:prstGeom>
          <a:solidFill>
            <a:srgbClr val="E0A93E"/>
          </a:solidFill>
          <a:ln/>
        </p:spPr>
      </p:sp>
      <p:sp>
        <p:nvSpPr>
          <p:cNvPr id="31" name="Text 28"/>
          <p:cNvSpPr txBox="1"/>
          <p:nvPr/>
        </p:nvSpPr>
        <p:spPr>
          <a:xfrm>
            <a:off x="6949440" y="4956048"/>
            <a:ext cx="4389120" cy="868680"/>
          </a:xfrm>
          <a:prstGeom prst="rect">
            <a:avLst/>
          </a:prstGeom>
          <a:noFill/>
          <a:ln/>
        </p:spPr>
        <p:txBody>
          <a:bodyPr wrap="square" lIns="0" tIns="0" rIns="0" bIns="0" rtlCol="0" anchor="ctr"/>
          <a:lstStyle/>
          <a:p>
            <a:pPr indent="0" marL="0">
              <a:lnSpc>
                <a:spcPct val="115000"/>
              </a:lnSpc>
              <a:buNone/>
            </a:pPr>
            <a:r>
              <a:rPr lang="en-US" sz="1050" dirty="0">
                <a:solidFill>
                  <a:srgbClr val="D7E2EE"/>
                </a:solidFill>
                <a:latin typeface="Calibri" pitchFamily="34" charset="0"/>
                <a:ea typeface="Calibri" pitchFamily="34" charset="-122"/>
                <a:cs typeface="Calibri" pitchFamily="34" charset="-120"/>
              </a:rPr>
              <a:t>Claims that interstate shipments underperform, or that repeat buyers drive revenue, are not yet supported by analysis in the current Colab notebook and are intentionally left out.</a:t>
            </a:r>
            <a:endParaRPr lang="en-US" sz="1050" dirty="0"/>
          </a:p>
        </p:txBody>
      </p:sp>
      <p:sp>
        <p:nvSpPr>
          <p:cNvPr id="32" name="Text 2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Olist Brazilian E-Commerce Public Dataset (Kaggle release, orders 2016 to 2018); author analysis, Google Colab, 2026.</a:t>
            </a:r>
            <a:endParaRPr lang="en-US" sz="850" dirty="0"/>
          </a:p>
        </p:txBody>
      </p:sp>
      <p:sp>
        <p:nvSpPr>
          <p:cNvPr id="33" name="Text 30"/>
          <p:cNvSpPr txBox="1"/>
          <p:nvPr/>
        </p:nvSpPr>
        <p:spPr>
          <a:xfrm>
            <a:off x="11521440"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E0A93E"/>
                </a:solidFill>
                <a:latin typeface="Calibri" pitchFamily="34" charset="0"/>
                <a:ea typeface="Calibri" pitchFamily="34" charset="-122"/>
                <a:cs typeface="Calibri" pitchFamily="34" charset="-120"/>
              </a:rPr>
              <a:t>RECOMMENDATIONS</a:t>
            </a:r>
            <a:endParaRPr lang="en-US" sz="1250" dirty="0"/>
          </a:p>
        </p:txBody>
      </p:sp>
      <p:sp>
        <p:nvSpPr>
          <p:cNvPr id="3" name="Text 1"/>
          <p:cNvSpPr txBox="1"/>
          <p:nvPr/>
        </p:nvSpPr>
        <p:spPr>
          <a:xfrm>
            <a:off x="548640" y="685800"/>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Should Olist Do Next?</a:t>
            </a:r>
            <a:endParaRPr lang="en-US" sz="3000" dirty="0"/>
          </a:p>
        </p:txBody>
      </p:sp>
      <p:sp>
        <p:nvSpPr>
          <p:cNvPr id="4" name="Shape 2"/>
          <p:cNvSpPr/>
          <p:nvPr/>
        </p:nvSpPr>
        <p:spPr>
          <a:xfrm>
            <a:off x="548640" y="1645920"/>
            <a:ext cx="3429000" cy="2331720"/>
          </a:xfrm>
          <a:prstGeom prst="roundRect">
            <a:avLst>
              <a:gd name="adj" fmla="val 3137"/>
            </a:avLst>
          </a:prstGeom>
          <a:solidFill>
            <a:srgbClr val="2C3768"/>
          </a:solidFill>
          <a:ln/>
        </p:spPr>
      </p:sp>
      <p:pic>
        <p:nvPicPr>
          <p:cNvPr id="5" name="Image 0" descr="/home/claude/deck/icons/rec_truck.png">    </p:cNvPr>
          <p:cNvPicPr>
            <a:picLocks noChangeAspect="1"/>
          </p:cNvPicPr>
          <p:nvPr/>
        </p:nvPicPr>
        <p:blipFill>
          <a:blip r:embed="rId1"/>
          <a:stretch>
            <a:fillRect/>
          </a:stretch>
        </p:blipFill>
        <p:spPr>
          <a:xfrm>
            <a:off x="804672" y="1901952"/>
            <a:ext cx="457200" cy="457200"/>
          </a:xfrm>
          <a:prstGeom prst="rect">
            <a:avLst/>
          </a:prstGeom>
        </p:spPr>
      </p:pic>
      <p:sp>
        <p:nvSpPr>
          <p:cNvPr id="6" name="Text 3"/>
          <p:cNvSpPr txBox="1"/>
          <p:nvPr/>
        </p:nvSpPr>
        <p:spPr>
          <a:xfrm>
            <a:off x="804672" y="2514600"/>
            <a:ext cx="2916936" cy="50292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Improve delivery reliability</a:t>
            </a:r>
            <a:endParaRPr lang="en-US" sz="1500" dirty="0"/>
          </a:p>
        </p:txBody>
      </p:sp>
      <p:sp>
        <p:nvSpPr>
          <p:cNvPr id="7" name="Text 4"/>
          <p:cNvSpPr txBox="1"/>
          <p:nvPr/>
        </p:nvSpPr>
        <p:spPr>
          <a:xfrm>
            <a:off x="804672" y="3017520"/>
            <a:ext cx="2916936" cy="868680"/>
          </a:xfrm>
          <a:prstGeom prst="rect">
            <a:avLst/>
          </a:prstGeom>
          <a:noFill/>
          <a:ln/>
        </p:spPr>
        <p:txBody>
          <a:bodyPr wrap="square" lIns="0" tIns="0" rIns="0" bIns="0" rtlCol="0" anchor="ctr"/>
          <a:lstStyle/>
          <a:p>
            <a:pPr indent="0" marL="0">
              <a:lnSpc>
                <a:spcPct val="115000"/>
              </a:lnSpc>
              <a:buNone/>
            </a:pPr>
            <a:r>
              <a:rPr lang="en-US" sz="1100" dirty="0">
                <a:solidFill>
                  <a:srgbClr val="D7E2EE"/>
                </a:solidFill>
                <a:latin typeface="Calibri" pitchFamily="34" charset="0"/>
                <a:ea typeface="Calibri" pitchFamily="34" charset="-122"/>
                <a:cs typeface="Calibri" pitchFamily="34" charset="-120"/>
              </a:rPr>
              <a:t>Reduce late deliveries and tighten estimated delivery accuracy, the single factor most closely tied to review scores.</a:t>
            </a:r>
            <a:endParaRPr lang="en-US" sz="1100" dirty="0"/>
          </a:p>
        </p:txBody>
      </p:sp>
      <p:sp>
        <p:nvSpPr>
          <p:cNvPr id="8" name="Shape 5"/>
          <p:cNvSpPr/>
          <p:nvPr/>
        </p:nvSpPr>
        <p:spPr>
          <a:xfrm>
            <a:off x="4297680" y="1645920"/>
            <a:ext cx="3429000" cy="2331720"/>
          </a:xfrm>
          <a:prstGeom prst="roundRect">
            <a:avLst>
              <a:gd name="adj" fmla="val 3137"/>
            </a:avLst>
          </a:prstGeom>
          <a:solidFill>
            <a:srgbClr val="2C3768"/>
          </a:solidFill>
          <a:ln/>
        </p:spPr>
      </p:sp>
      <p:pic>
        <p:nvPicPr>
          <p:cNvPr id="9" name="Image 1" descr="/home/claude/deck/icons/rec_search.png">    </p:cNvPr>
          <p:cNvPicPr>
            <a:picLocks noChangeAspect="1"/>
          </p:cNvPicPr>
          <p:nvPr/>
        </p:nvPicPr>
        <p:blipFill>
          <a:blip r:embed="rId2"/>
          <a:stretch>
            <a:fillRect/>
          </a:stretch>
        </p:blipFill>
        <p:spPr>
          <a:xfrm>
            <a:off x="4553712" y="1901952"/>
            <a:ext cx="457200" cy="457200"/>
          </a:xfrm>
          <a:prstGeom prst="rect">
            <a:avLst/>
          </a:prstGeom>
        </p:spPr>
      </p:pic>
      <p:sp>
        <p:nvSpPr>
          <p:cNvPr id="10" name="Text 6"/>
          <p:cNvSpPr txBox="1"/>
          <p:nvPr/>
        </p:nvSpPr>
        <p:spPr>
          <a:xfrm>
            <a:off x="4553712" y="2514600"/>
            <a:ext cx="2916936" cy="50292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Prioritize high-risk areas</a:t>
            </a:r>
            <a:endParaRPr lang="en-US" sz="1500" dirty="0"/>
          </a:p>
        </p:txBody>
      </p:sp>
      <p:sp>
        <p:nvSpPr>
          <p:cNvPr id="11" name="Text 7"/>
          <p:cNvSpPr txBox="1"/>
          <p:nvPr/>
        </p:nvSpPr>
        <p:spPr>
          <a:xfrm>
            <a:off x="4553712" y="3017520"/>
            <a:ext cx="2916936" cy="868680"/>
          </a:xfrm>
          <a:prstGeom prst="rect">
            <a:avLst/>
          </a:prstGeom>
          <a:noFill/>
          <a:ln/>
        </p:spPr>
        <p:txBody>
          <a:bodyPr wrap="square" lIns="0" tIns="0" rIns="0" bIns="0" rtlCol="0" anchor="ctr"/>
          <a:lstStyle/>
          <a:p>
            <a:pPr indent="0" marL="0">
              <a:lnSpc>
                <a:spcPct val="115000"/>
              </a:lnSpc>
              <a:buNone/>
            </a:pPr>
            <a:r>
              <a:rPr lang="en-US" sz="1100" dirty="0">
                <a:solidFill>
                  <a:srgbClr val="D7E2EE"/>
                </a:solidFill>
                <a:latin typeface="Calibri" pitchFamily="34" charset="0"/>
                <a:ea typeface="Calibri" pitchFamily="34" charset="-122"/>
                <a:cs typeface="Calibri" pitchFamily="34" charset="-120"/>
              </a:rPr>
              <a:t>Apply the volume, review, and late-order framework to monitor the states and categories that need attention first.</a:t>
            </a:r>
            <a:endParaRPr lang="en-US" sz="1100" dirty="0"/>
          </a:p>
        </p:txBody>
      </p:sp>
      <p:sp>
        <p:nvSpPr>
          <p:cNvPr id="12" name="Shape 8"/>
          <p:cNvSpPr/>
          <p:nvPr/>
        </p:nvSpPr>
        <p:spPr>
          <a:xfrm>
            <a:off x="8046720" y="1645920"/>
            <a:ext cx="3429000" cy="2331720"/>
          </a:xfrm>
          <a:prstGeom prst="roundRect">
            <a:avLst>
              <a:gd name="adj" fmla="val 3137"/>
            </a:avLst>
          </a:prstGeom>
          <a:solidFill>
            <a:srgbClr val="2C3768"/>
          </a:solidFill>
          <a:ln/>
        </p:spPr>
      </p:sp>
      <p:pic>
        <p:nvPicPr>
          <p:cNvPr id="13" name="Image 2" descr="/home/claude/deck/icons/rec_heart.png">    </p:cNvPr>
          <p:cNvPicPr>
            <a:picLocks noChangeAspect="1"/>
          </p:cNvPicPr>
          <p:nvPr/>
        </p:nvPicPr>
        <p:blipFill>
          <a:blip r:embed="rId3"/>
          <a:stretch>
            <a:fillRect/>
          </a:stretch>
        </p:blipFill>
        <p:spPr>
          <a:xfrm>
            <a:off x="8302752" y="1901952"/>
            <a:ext cx="457200" cy="457200"/>
          </a:xfrm>
          <a:prstGeom prst="rect">
            <a:avLst/>
          </a:prstGeom>
        </p:spPr>
      </p:pic>
      <p:sp>
        <p:nvSpPr>
          <p:cNvPr id="14" name="Text 9"/>
          <p:cNvSpPr txBox="1"/>
          <p:nvPr/>
        </p:nvSpPr>
        <p:spPr>
          <a:xfrm>
            <a:off x="8302752" y="2514600"/>
            <a:ext cx="2916936" cy="50292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Protect customer experience</a:t>
            </a:r>
            <a:endParaRPr lang="en-US" sz="1500" dirty="0"/>
          </a:p>
        </p:txBody>
      </p:sp>
      <p:sp>
        <p:nvSpPr>
          <p:cNvPr id="15" name="Text 10"/>
          <p:cNvSpPr txBox="1"/>
          <p:nvPr/>
        </p:nvSpPr>
        <p:spPr>
          <a:xfrm>
            <a:off x="8302752" y="3017520"/>
            <a:ext cx="2916936" cy="868680"/>
          </a:xfrm>
          <a:prstGeom prst="rect">
            <a:avLst/>
          </a:prstGeom>
          <a:noFill/>
          <a:ln/>
        </p:spPr>
        <p:txBody>
          <a:bodyPr wrap="square" lIns="0" tIns="0" rIns="0" bIns="0" rtlCol="0" anchor="ctr"/>
          <a:lstStyle/>
          <a:p>
            <a:pPr indent="0" marL="0">
              <a:lnSpc>
                <a:spcPct val="115000"/>
              </a:lnSpc>
              <a:buNone/>
            </a:pPr>
            <a:r>
              <a:rPr lang="en-US" sz="1100" dirty="0">
                <a:solidFill>
                  <a:srgbClr val="D7E2EE"/>
                </a:solidFill>
                <a:latin typeface="Calibri" pitchFamily="34" charset="0"/>
                <a:ea typeface="Calibri" pitchFamily="34" charset="-122"/>
                <a:cs typeface="Calibri" pitchFamily="34" charset="-120"/>
              </a:rPr>
              <a:t>Proactively notify customers of delays and investigate categories with weaker reviews before they affect repeat purchases.</a:t>
            </a:r>
            <a:endParaRPr lang="en-US" sz="1100" dirty="0"/>
          </a:p>
        </p:txBody>
      </p:sp>
      <p:sp>
        <p:nvSpPr>
          <p:cNvPr id="16" name="Shape 11"/>
          <p:cNvSpPr/>
          <p:nvPr/>
        </p:nvSpPr>
        <p:spPr>
          <a:xfrm>
            <a:off x="548640" y="4206240"/>
            <a:ext cx="11064240" cy="960120"/>
          </a:xfrm>
          <a:prstGeom prst="roundRect">
            <a:avLst>
              <a:gd name="adj" fmla="val 7619"/>
            </a:avLst>
          </a:prstGeom>
          <a:solidFill>
            <a:srgbClr val="2C3768"/>
          </a:solidFill>
          <a:ln/>
        </p:spPr>
      </p:sp>
      <p:sp>
        <p:nvSpPr>
          <p:cNvPr id="17" name="Text 12"/>
          <p:cNvSpPr txBox="1"/>
          <p:nvPr/>
        </p:nvSpPr>
        <p:spPr>
          <a:xfrm>
            <a:off x="868680" y="4343400"/>
            <a:ext cx="2194560" cy="274320"/>
          </a:xfrm>
          <a:prstGeom prst="rect">
            <a:avLst/>
          </a:prstGeom>
          <a:noFill/>
          <a:ln/>
        </p:spPr>
        <p:txBody>
          <a:bodyPr wrap="square" lIns="0" tIns="0" rIns="0" bIns="0" rtlCol="0" anchor="ctr"/>
          <a:lstStyle/>
          <a:p>
            <a:pPr indent="0" marL="0">
              <a:buNone/>
            </a:pPr>
            <a:r>
              <a:rPr lang="en-US" sz="1000" b="1" spc="150" kern="0" dirty="0">
                <a:solidFill>
                  <a:srgbClr val="E0A93E"/>
                </a:solidFill>
                <a:latin typeface="Calibri" pitchFamily="34" charset="0"/>
                <a:ea typeface="Calibri" pitchFamily="34" charset="-122"/>
                <a:cs typeface="Calibri" pitchFamily="34" charset="-120"/>
              </a:rPr>
              <a:t>ALSO WORTH ADDING</a:t>
            </a:r>
            <a:endParaRPr lang="en-US" sz="1000" dirty="0"/>
          </a:p>
        </p:txBody>
      </p:sp>
      <p:sp>
        <p:nvSpPr>
          <p:cNvPr id="18" name="Text 13"/>
          <p:cNvSpPr txBox="1"/>
          <p:nvPr/>
        </p:nvSpPr>
        <p:spPr>
          <a:xfrm>
            <a:off x="868680" y="4590288"/>
            <a:ext cx="3291840" cy="50292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Cambria" pitchFamily="34" charset="0"/>
                <a:ea typeface="Cambria" pitchFamily="34" charset="-122"/>
                <a:cs typeface="Cambria" pitchFamily="34" charset="-120"/>
              </a:rPr>
              <a:t>Hold sellers and carriers accountable with scorecards</a:t>
            </a:r>
            <a:endParaRPr lang="en-US" sz="1350" dirty="0"/>
          </a:p>
        </p:txBody>
      </p:sp>
      <p:sp>
        <p:nvSpPr>
          <p:cNvPr id="19" name="Text 14"/>
          <p:cNvSpPr txBox="1"/>
          <p:nvPr/>
        </p:nvSpPr>
        <p:spPr>
          <a:xfrm>
            <a:off x="4343400" y="4370832"/>
            <a:ext cx="7040880" cy="731520"/>
          </a:xfrm>
          <a:prstGeom prst="rect">
            <a:avLst/>
          </a:prstGeom>
          <a:noFill/>
          <a:ln/>
        </p:spPr>
        <p:txBody>
          <a:bodyPr wrap="square" lIns="0" tIns="0" rIns="0" bIns="0" rtlCol="0" anchor="ctr"/>
          <a:lstStyle/>
          <a:p>
            <a:pPr indent="0" marL="0">
              <a:lnSpc>
                <a:spcPct val="115000"/>
              </a:lnSpc>
              <a:buNone/>
            </a:pPr>
            <a:r>
              <a:rPr lang="en-US" sz="1050" dirty="0">
                <a:solidFill>
                  <a:srgbClr val="D7E2EE"/>
                </a:solidFill>
                <a:latin typeface="Calibri" pitchFamily="34" charset="0"/>
                <a:ea typeface="Calibri" pitchFamily="34" charset="-122"/>
                <a:cs typeface="Calibri" pitchFamily="34" charset="-120"/>
              </a:rPr>
              <a:t>The recommendations above focus on how Olist manages the customer relationship. The data suggests an equally important lever on the supply side: many delays originate with specific sellers or carrier lanes. A recurring scorecard that tracks late-order rate by seller and by shipping lane would let Olist intervene before delays reach the customer, closing the loop this analysis opened.</a:t>
            </a:r>
            <a:endParaRPr lang="en-US" sz="1050" dirty="0"/>
          </a:p>
        </p:txBody>
      </p:sp>
      <p:sp>
        <p:nvSpPr>
          <p:cNvPr id="20" name="Shape 15"/>
          <p:cNvSpPr/>
          <p:nvPr/>
        </p:nvSpPr>
        <p:spPr>
          <a:xfrm>
            <a:off x="548640" y="5440680"/>
            <a:ext cx="11064240" cy="914400"/>
          </a:xfrm>
          <a:prstGeom prst="roundRect">
            <a:avLst>
              <a:gd name="adj" fmla="val 8000"/>
            </a:avLst>
          </a:prstGeom>
          <a:solidFill>
            <a:srgbClr val="065A82"/>
          </a:solidFill>
          <a:ln/>
        </p:spPr>
      </p:sp>
      <p:sp>
        <p:nvSpPr>
          <p:cNvPr id="21" name="Text 16"/>
          <p:cNvSpPr txBox="1"/>
          <p:nvPr/>
        </p:nvSpPr>
        <p:spPr>
          <a:xfrm>
            <a:off x="914400" y="5550408"/>
            <a:ext cx="10332720" cy="713232"/>
          </a:xfrm>
          <a:prstGeom prst="rect">
            <a:avLst/>
          </a:prstGeom>
          <a:noFill/>
          <a:ln/>
        </p:spPr>
        <p:txBody>
          <a:bodyPr wrap="square" lIns="0" tIns="0" rIns="0" bIns="0" rtlCol="0" anchor="ctr"/>
          <a:lstStyle/>
          <a:p>
            <a:pPr algn="ctr" indent="0" marL="0">
              <a:lnSpc>
                <a:spcPct val="115000"/>
              </a:lnSpc>
              <a:buNone/>
            </a:pPr>
            <a:r>
              <a:rPr lang="en-US" sz="1450" i="1" dirty="0">
                <a:solidFill>
                  <a:srgbClr val="FFFFFF"/>
                </a:solidFill>
                <a:latin typeface="Cambria" pitchFamily="34" charset="0"/>
                <a:ea typeface="Cambria" pitchFamily="34" charset="-122"/>
                <a:cs typeface="Cambria" pitchFamily="34" charset="-120"/>
              </a:rPr>
              <a:t>“The clearest opportunity is to improve delivery reliability. The data shows a sharp, consistent relationship between delivery performance and customer satisfaction, one Olist can act on immediately.”</a:t>
            </a:r>
            <a:endParaRPr lang="en-US" sz="1450" dirty="0"/>
          </a:p>
        </p:txBody>
      </p:sp>
      <p:sp>
        <p:nvSpPr>
          <p:cNvPr id="22" name="Text 17"/>
          <p:cNvSpPr txBox="1"/>
          <p:nvPr/>
        </p:nvSpPr>
        <p:spPr>
          <a:xfrm>
            <a:off x="548640" y="6510528"/>
            <a:ext cx="8686800" cy="274320"/>
          </a:xfrm>
          <a:prstGeom prst="rect">
            <a:avLst/>
          </a:prstGeom>
          <a:noFill/>
          <a:ln/>
        </p:spPr>
        <p:txBody>
          <a:bodyPr wrap="square" lIns="0" tIns="0" rIns="0" bIns="0" rtlCol="0" anchor="ctr"/>
          <a:lstStyle/>
          <a:p>
            <a:pPr indent="0" marL="0">
              <a:buNone/>
            </a:pPr>
            <a:r>
              <a:rPr lang="en-US" sz="850" i="1" dirty="0">
                <a:solidFill>
                  <a:srgbClr val="9FB6D9"/>
                </a:solidFill>
                <a:latin typeface="Calibri" pitchFamily="34" charset="0"/>
                <a:ea typeface="Calibri" pitchFamily="34" charset="-122"/>
                <a:cs typeface="Calibri" pitchFamily="34" charset="-120"/>
              </a:rPr>
              <a:t>Source: Olist Brazilian E-Commerce Public Dataset (Kaggle release, orders 2016 to 2018); author analysis, Google Colab, 2026.</a:t>
            </a:r>
            <a:endParaRPr lang="en-US" sz="850" dirty="0"/>
          </a:p>
        </p:txBody>
      </p:sp>
      <p:sp>
        <p:nvSpPr>
          <p:cNvPr id="23" name="Text 18"/>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9FB6D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2026-09-06T18:11:52Z</dcterms:created>
  <dcterms:modified xsi:type="dcterms:W3CDTF">2026-09-06T18:11:52Z</dcterms:modified>
</cp:coreProperties>
</file>